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84318"/>
  </p:normalViewPr>
  <p:slideViewPr>
    <p:cSldViewPr snapToGrid="0" snapToObjects="1">
      <p:cViewPr varScale="1">
        <p:scale>
          <a:sx n="130" d="100"/>
          <a:sy n="130" d="100"/>
        </p:scale>
        <p:origin x="17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HCPCS F1</c:v>
                </c:pt>
              </c:strCache>
            </c:strRef>
          </c:tx>
          <c:spPr>
            <a:solidFill>
              <a:srgbClr val="E3B341"/>
            </a:solidFill>
            <a:effectLst/>
          </c:spPr>
          <c:invertIfNegative val="0"/>
          <c:dLbls>
            <c:numFmt formatCode="0.00" sourceLinked="0"/>
            <c:spPr>
              <a:noFill/>
              <a:ln>
                <a:noFill/>
              </a:ln>
              <a:effectLst/>
            </c:spPr>
            <c:txPr>
              <a:bodyPr/>
              <a:lstStyle/>
              <a:p>
                <a:pPr>
                  <a:defRPr sz="1200" b="0" i="0" u="none" strike="noStrike">
                    <a:solidFill>
                      <a:srgbClr val="F0F6FC"/>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L0</c:v>
                </c:pt>
                <c:pt idx="1">
                  <c:v>L1</c:v>
                </c:pt>
                <c:pt idx="2">
                  <c:v>L2</c:v>
                </c:pt>
                <c:pt idx="3">
                  <c:v>L3</c:v>
                </c:pt>
                <c:pt idx="4">
                  <c:v>L4</c:v>
                </c:pt>
              </c:strCache>
            </c:strRef>
          </c:cat>
          <c:val>
            <c:numRef>
              <c:f>Sheet1!$B$2:$B$6</c:f>
              <c:numCache>
                <c:formatCode>General</c:formatCode>
                <c:ptCount val="5"/>
                <c:pt idx="0">
                  <c:v>0.55600000000000005</c:v>
                </c:pt>
                <c:pt idx="1">
                  <c:v>0.55600000000000005</c:v>
                </c:pt>
                <c:pt idx="2">
                  <c:v>0.55600000000000005</c:v>
                </c:pt>
                <c:pt idx="3">
                  <c:v>0.44500000000000001</c:v>
                </c:pt>
                <c:pt idx="4">
                  <c:v>0.66700000000000004</c:v>
                </c:pt>
              </c:numCache>
            </c:numRef>
          </c:val>
          <c:extLst>
            <c:ext xmlns:c16="http://schemas.microsoft.com/office/drawing/2014/chart" uri="{C3380CC4-5D6E-409C-BE32-E72D297353CC}">
              <c16:uniqueId val="{00000000-DC6C-C641-99DC-3CC6706BBEA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C9D1D9"/>
                </a:solidFill>
                <a:latin typeface="Consolas"/>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12700" cap="flat">
              <a:solidFill>
                <a:srgbClr val="21262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1"/>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Std Dev of F1</c:v>
                </c:pt>
              </c:strCache>
            </c:strRef>
          </c:tx>
          <c:spPr>
            <a:solidFill>
              <a:srgbClr val="58A6FF"/>
            </a:solidFill>
            <a:effectLst/>
          </c:spPr>
          <c:invertIfNegative val="0"/>
          <c:dLbls>
            <c:numFmt formatCode="0.000" sourceLinked="0"/>
            <c:spPr>
              <a:noFill/>
              <a:ln>
                <a:noFill/>
              </a:ln>
              <a:effectLst/>
            </c:spPr>
            <c:txPr>
              <a:bodyPr/>
              <a:lstStyle/>
              <a:p>
                <a:pPr>
                  <a:defRPr sz="1100" b="0" i="0" u="none" strike="noStrike">
                    <a:solidFill>
                      <a:srgbClr val="F0F6FC"/>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L0</c:v>
                </c:pt>
                <c:pt idx="1">
                  <c:v>L1</c:v>
                </c:pt>
                <c:pt idx="2">
                  <c:v>L2</c:v>
                </c:pt>
                <c:pt idx="3">
                  <c:v>L3</c:v>
                </c:pt>
                <c:pt idx="4">
                  <c:v>L4</c:v>
                </c:pt>
              </c:strCache>
            </c:strRef>
          </c:cat>
          <c:val>
            <c:numRef>
              <c:f>Sheet1!$B$2:$B$6</c:f>
              <c:numCache>
                <c:formatCode>General</c:formatCode>
                <c:ptCount val="5"/>
                <c:pt idx="0">
                  <c:v>9.0999999999999998E-2</c:v>
                </c:pt>
                <c:pt idx="1">
                  <c:v>5.3999999999999999E-2</c:v>
                </c:pt>
                <c:pt idx="2">
                  <c:v>5.7000000000000002E-2</c:v>
                </c:pt>
                <c:pt idx="3">
                  <c:v>4.3999999999999997E-2</c:v>
                </c:pt>
                <c:pt idx="4">
                  <c:v>5.3999999999999999E-2</c:v>
                </c:pt>
              </c:numCache>
            </c:numRef>
          </c:val>
          <c:extLst>
            <c:ext xmlns:c16="http://schemas.microsoft.com/office/drawing/2014/chart" uri="{C3380CC4-5D6E-409C-BE32-E72D297353CC}">
              <c16:uniqueId val="{00000000-512B-BF4C-BDC4-EE58070775E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C9D1D9"/>
                </a:solidFill>
                <a:latin typeface="Consolas"/>
              </a:defRPr>
            </a:pPr>
            <a:endParaRPr lang="en-US"/>
          </a:p>
        </c:txPr>
        <c:crossAx val="2094734552"/>
        <c:crosses val="autoZero"/>
        <c:auto val="1"/>
        <c:lblAlgn val="ctr"/>
        <c:lblOffset val="100"/>
        <c:noMultiLvlLbl val="1"/>
      </c:catAx>
      <c:valAx>
        <c:axId val="2094734552"/>
        <c:scaling>
          <c:orientation val="minMax"/>
          <c:max val="0.1"/>
          <c:min val="0"/>
        </c:scaling>
        <c:delete val="0"/>
        <c:axPos val="l"/>
        <c:majorGridlines>
          <c:spPr>
            <a:ln w="12700" cap="flat">
              <a:solidFill>
                <a:srgbClr val="21262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1"/>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impact</c:v>
                </c:pt>
              </c:strCache>
            </c:strRef>
          </c:tx>
          <c:spPr>
            <a:solidFill>
              <a:srgbClr val="E3B341"/>
            </a:solidFill>
            <a:effectLst/>
          </c:spPr>
          <c:invertIfNegative val="0"/>
          <c:dPt>
            <c:idx val="0"/>
            <c:invertIfNegative val="0"/>
            <c:bubble3D val="0"/>
            <c:spPr>
              <a:solidFill>
                <a:srgbClr val="E3B341"/>
              </a:solidFill>
              <a:effectLst/>
            </c:spPr>
            <c:extLst>
              <c:ext xmlns:c16="http://schemas.microsoft.com/office/drawing/2014/chart" uri="{C3380CC4-5D6E-409C-BE32-E72D297353CC}">
                <c16:uniqueId val="{00000001-2A5E-0F49-BED0-2B3A487B2CCD}"/>
              </c:ext>
            </c:extLst>
          </c:dPt>
          <c:dPt>
            <c:idx val="1"/>
            <c:invertIfNegative val="0"/>
            <c:bubble3D val="0"/>
            <c:spPr>
              <a:solidFill>
                <a:srgbClr val="58A6FF"/>
              </a:solidFill>
              <a:effectLst/>
            </c:spPr>
            <c:extLst>
              <c:ext xmlns:c16="http://schemas.microsoft.com/office/drawing/2014/chart" uri="{C3380CC4-5D6E-409C-BE32-E72D297353CC}">
                <c16:uniqueId val="{00000003-2A5E-0F49-BED0-2B3A487B2CCD}"/>
              </c:ext>
            </c:extLst>
          </c:dPt>
          <c:dPt>
            <c:idx val="2"/>
            <c:invertIfNegative val="0"/>
            <c:bubble3D val="0"/>
            <c:spPr>
              <a:solidFill>
                <a:srgbClr val="3FB950"/>
              </a:solidFill>
              <a:effectLst/>
            </c:spPr>
            <c:extLst>
              <c:ext xmlns:c16="http://schemas.microsoft.com/office/drawing/2014/chart" uri="{C3380CC4-5D6E-409C-BE32-E72D297353CC}">
                <c16:uniqueId val="{00000005-2A5E-0F49-BED0-2B3A487B2CCD}"/>
              </c:ext>
            </c:extLst>
          </c:dPt>
          <c:dPt>
            <c:idx val="3"/>
            <c:invertIfNegative val="0"/>
            <c:bubble3D val="0"/>
            <c:spPr>
              <a:solidFill>
                <a:srgbClr val="6E7681"/>
              </a:solidFill>
              <a:effectLst/>
            </c:spPr>
            <c:extLst>
              <c:ext xmlns:c16="http://schemas.microsoft.com/office/drawing/2014/chart" uri="{C3380CC4-5D6E-409C-BE32-E72D297353CC}">
                <c16:uniqueId val="{00000007-2A5E-0F49-BED0-2B3A487B2CCD}"/>
              </c:ext>
            </c:extLst>
          </c:dPt>
          <c:dLbls>
            <c:numFmt formatCode="0%" sourceLinked="0"/>
            <c:spPr>
              <a:noFill/>
              <a:ln>
                <a:noFill/>
              </a:ln>
              <a:effectLst/>
            </c:spPr>
            <c:txPr>
              <a:bodyPr/>
              <a:lstStyle/>
              <a:p>
                <a:pPr>
                  <a:defRPr sz="1100" b="0" i="0" u="none" strike="noStrike">
                    <a:solidFill>
                      <a:srgbClr val="F0F6FC"/>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PLA</c:v>
                </c:pt>
                <c:pt idx="1">
                  <c:v>CPT</c:v>
                </c:pt>
                <c:pt idx="2">
                  <c:v>CAT3</c:v>
                </c:pt>
                <c:pt idx="3">
                  <c:v>HCPCS</c:v>
                </c:pt>
              </c:strCache>
            </c:strRef>
          </c:cat>
          <c:val>
            <c:numRef>
              <c:f>Sheet1!$B$2:$B$5</c:f>
              <c:numCache>
                <c:formatCode>General</c:formatCode>
                <c:ptCount val="4"/>
                <c:pt idx="0">
                  <c:v>0.47</c:v>
                </c:pt>
                <c:pt idx="1">
                  <c:v>0.46100000000000002</c:v>
                </c:pt>
                <c:pt idx="2">
                  <c:v>0.05</c:v>
                </c:pt>
                <c:pt idx="3">
                  <c:v>1.9E-2</c:v>
                </c:pt>
              </c:numCache>
            </c:numRef>
          </c:val>
          <c:extLst>
            <c:ext xmlns:c16="http://schemas.microsoft.com/office/drawing/2014/chart" uri="{C3380CC4-5D6E-409C-BE32-E72D297353CC}">
              <c16:uniqueId val="{00000008-2A5E-0F49-BED0-2B3A487B2CC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C9D1D9"/>
                </a:solidFill>
                <a:latin typeface="Consolas"/>
              </a:defRPr>
            </a:pPr>
            <a:endParaRPr lang="en-US"/>
          </a:p>
        </c:txPr>
        <c:crossAx val="2094734552"/>
        <c:crosses val="autoZero"/>
        <c:auto val="1"/>
        <c:lblAlgn val="ctr"/>
        <c:lblOffset val="100"/>
        <c:noMultiLvlLbl val="1"/>
      </c:catAx>
      <c:valAx>
        <c:axId val="2094734552"/>
        <c:scaling>
          <c:orientation val="minMax"/>
          <c:max val="0.6"/>
          <c:min val="0"/>
        </c:scaling>
        <c:delete val="1"/>
        <c:axPos val="l"/>
        <c:numFmt formatCode="General" sourceLinked="0"/>
        <c:majorTickMark val="out"/>
        <c:minorTickMark val="none"/>
        <c:tickLblPos val="nextTo"/>
        <c:crossAx val="2094734554"/>
        <c:crosses val="autoZero"/>
        <c:crossBetween val="between"/>
      </c:valAx>
      <c:spPr>
        <a:solidFill>
          <a:srgbClr val="0D1117"/>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468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2286000"/>
            <a:ext cx="10058400" cy="1005840"/>
          </a:xfrm>
          <a:prstGeom prst="rect">
            <a:avLst/>
          </a:prstGeom>
          <a:noFill/>
          <a:ln/>
        </p:spPr>
        <p:txBody>
          <a:bodyPr wrap="square" rtlCol="0" anchor="ctr"/>
          <a:lstStyle/>
          <a:p>
            <a:pPr marL="0" indent="0" algn="l">
              <a:buNone/>
            </a:pPr>
            <a:r>
              <a:rPr lang="en-US" sz="5200" b="1" dirty="0">
                <a:solidFill>
                  <a:srgbClr val="F0F6FC"/>
                </a:solidFill>
                <a:latin typeface="Consolas" pitchFamily="34" charset="0"/>
                <a:ea typeface="Consolas" pitchFamily="34" charset="-122"/>
                <a:cs typeface="Consolas" pitchFamily="34" charset="-120"/>
              </a:rPr>
              <a:t>Policy</a:t>
            </a:r>
            <a:r>
              <a:rPr lang="en-US" sz="5200" b="1" dirty="0">
                <a:solidFill>
                  <a:srgbClr val="E3B341"/>
                </a:solidFill>
                <a:latin typeface="Consolas" pitchFamily="34" charset="0"/>
                <a:ea typeface="Consolas" pitchFamily="34" charset="-122"/>
                <a:cs typeface="Consolas" pitchFamily="34" charset="-120"/>
              </a:rPr>
              <a:t>Forge</a:t>
            </a:r>
            <a:endParaRPr lang="en-US" sz="5200" dirty="0"/>
          </a:p>
        </p:txBody>
      </p:sp>
      <p:sp>
        <p:nvSpPr>
          <p:cNvPr id="3" name="Text 1"/>
          <p:cNvSpPr/>
          <p:nvPr/>
        </p:nvSpPr>
        <p:spPr>
          <a:xfrm>
            <a:off x="640080" y="3383280"/>
            <a:ext cx="9601200" cy="822960"/>
          </a:xfrm>
          <a:prstGeom prst="rect">
            <a:avLst/>
          </a:prstGeom>
          <a:noFill/>
          <a:ln/>
        </p:spPr>
        <p:txBody>
          <a:bodyPr wrap="square" rtlCol="0" anchor="ctr"/>
          <a:lstStyle/>
          <a:p>
            <a:pPr marL="0" indent="0" algn="l">
              <a:buNone/>
            </a:pPr>
            <a:r>
              <a:rPr lang="en-US" sz="1900" i="1" dirty="0">
                <a:solidFill>
                  <a:srgbClr val="C9D1D9"/>
                </a:solidFill>
                <a:latin typeface="Cambria" pitchFamily="34" charset="0"/>
                <a:ea typeface="Cambria" pitchFamily="34" charset="-122"/>
                <a:cs typeface="Cambria" pitchFamily="34" charset="-120"/>
              </a:rPr>
              <a:t>Turning written healthcare payment policy into auditable, executable rules — with a citation for every decision.</a:t>
            </a:r>
            <a:endParaRPr lang="en-US" sz="1900" dirty="0"/>
          </a:p>
        </p:txBody>
      </p:sp>
      <p:sp>
        <p:nvSpPr>
          <p:cNvPr id="4" name="Text 2"/>
          <p:cNvSpPr/>
          <p:nvPr/>
        </p:nvSpPr>
        <p:spPr>
          <a:xfrm>
            <a:off x="640080" y="5852160"/>
            <a:ext cx="10972800" cy="365760"/>
          </a:xfrm>
          <a:prstGeom prst="rect">
            <a:avLst/>
          </a:prstGeom>
          <a:noFill/>
          <a:ln/>
        </p:spPr>
        <p:txBody>
          <a:bodyPr wrap="square" rtlCol="0" anchor="ctr"/>
          <a:lstStyle/>
          <a:p>
            <a:pPr marL="0" indent="0" algn="l">
              <a:buNone/>
            </a:pPr>
            <a:r>
              <a:rPr lang="en-US" sz="1300" b="1" dirty="0">
                <a:solidFill>
                  <a:srgbClr val="F0F6FC"/>
                </a:solidFill>
                <a:latin typeface="Calibri" pitchFamily="34" charset="0"/>
                <a:ea typeface="Calibri" pitchFamily="34" charset="-122"/>
                <a:cs typeface="Calibri" pitchFamily="34" charset="-120"/>
              </a:rPr>
              <a:t>Zheng Liu</a:t>
            </a:r>
            <a:r>
              <a:rPr lang="en-US" sz="1300" dirty="0">
                <a:solidFill>
                  <a:srgbClr val="6E7681"/>
                </a:solidFill>
                <a:latin typeface="Calibri" pitchFamily="34" charset="0"/>
                <a:ea typeface="Calibri" pitchFamily="34" charset="-122"/>
                <a:cs typeface="Calibri" pitchFamily="34" charset="-120"/>
              </a:rPr>
              <a:t>   ·   Northeastern University   ·   GenAI Research Engineer Intern Assessment</a:t>
            </a:r>
            <a:endParaRPr lang="en-US" sz="1300" dirty="0"/>
          </a:p>
        </p:txBody>
      </p:sp>
      <p:sp>
        <p:nvSpPr>
          <p:cNvPr id="5" name="Text 3"/>
          <p:cNvSpPr/>
          <p:nvPr/>
        </p:nvSpPr>
        <p:spPr>
          <a:xfrm>
            <a:off x="640080" y="5532120"/>
            <a:ext cx="9144000" cy="320040"/>
          </a:xfrm>
          <a:prstGeom prst="rect">
            <a:avLst/>
          </a:prstGeom>
          <a:noFill/>
          <a:ln/>
        </p:spPr>
        <p:txBody>
          <a:bodyPr wrap="square" rtlCol="0" anchor="ctr"/>
          <a:lstStyle/>
          <a:p>
            <a:pPr marL="0" indent="0" algn="l">
              <a:buNone/>
            </a:pPr>
            <a:r>
              <a:rPr lang="en-US" sz="1200" dirty="0">
                <a:solidFill>
                  <a:srgbClr val="E3B341"/>
                </a:solidFill>
                <a:latin typeface="Consolas" pitchFamily="34" charset="0"/>
                <a:ea typeface="Consolas" pitchFamily="34" charset="-122"/>
                <a:cs typeface="Consolas" pitchFamily="34" charset="-120"/>
              </a:rPr>
              <a:t>Topic 3 — Content Management in Health Care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THE PROBLEM</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Policy is written in prose. Claims engines run on rules.</a:t>
            </a:r>
            <a:endParaRPr lang="en-US" sz="3200" dirty="0"/>
          </a:p>
        </p:txBody>
      </p:sp>
      <p:sp>
        <p:nvSpPr>
          <p:cNvPr id="4" name="Text 2"/>
          <p:cNvSpPr/>
          <p:nvPr/>
        </p:nvSpPr>
        <p:spPr>
          <a:xfrm>
            <a:off x="640080" y="1828800"/>
            <a:ext cx="6675120" cy="1645920"/>
          </a:xfrm>
          <a:prstGeom prst="rect">
            <a:avLst/>
          </a:prstGeom>
          <a:noFill/>
          <a:ln/>
        </p:spPr>
        <p:txBody>
          <a:bodyPr wrap="square" rtlCol="0" anchor="ctr"/>
          <a:lstStyle/>
          <a:p>
            <a:pPr marL="0" indent="0" algn="l">
              <a:lnSpc>
                <a:spcPct val="130000"/>
              </a:lnSpc>
              <a:buNone/>
            </a:pPr>
            <a:r>
              <a:rPr lang="en-US" sz="1600" dirty="0">
                <a:solidFill>
                  <a:srgbClr val="C9D1D9"/>
                </a:solidFill>
                <a:latin typeface="Calibri" pitchFamily="34" charset="0"/>
                <a:ea typeface="Calibri" pitchFamily="34" charset="-122"/>
                <a:cs typeface="Calibri" pitchFamily="34" charset="-120"/>
              </a:rPr>
              <a:t>Every quarter, Medicare publishes thousands of new coding and coverage rules as narrative text. Today, someone reads them by hand, writes rule specifications, hands them to engineering, and waits. The translation is slow, expensive, and not reproducible — and it starts over every quarter.</a:t>
            </a:r>
            <a:endParaRPr lang="en-US" sz="1600" dirty="0"/>
          </a:p>
        </p:txBody>
      </p:sp>
      <p:sp>
        <p:nvSpPr>
          <p:cNvPr id="5" name="Shape 3"/>
          <p:cNvSpPr/>
          <p:nvPr/>
        </p:nvSpPr>
        <p:spPr>
          <a:xfrm>
            <a:off x="7772400" y="1737360"/>
            <a:ext cx="3749040" cy="777240"/>
          </a:xfrm>
          <a:prstGeom prst="roundRect">
            <a:avLst>
              <a:gd name="adj" fmla="val 9412"/>
            </a:avLst>
          </a:prstGeom>
          <a:solidFill>
            <a:srgbClr val="161B22"/>
          </a:solidFill>
          <a:ln w="12700">
            <a:solidFill>
              <a:srgbClr val="21262D"/>
            </a:solidFill>
            <a:prstDash val="solid"/>
          </a:ln>
        </p:spPr>
        <p:txBody>
          <a:bodyPr/>
          <a:lstStyle/>
          <a:p>
            <a:endParaRPr lang="en-US"/>
          </a:p>
        </p:txBody>
      </p:sp>
      <p:sp>
        <p:nvSpPr>
          <p:cNvPr id="6" name="Text 4"/>
          <p:cNvSpPr/>
          <p:nvPr/>
        </p:nvSpPr>
        <p:spPr>
          <a:xfrm>
            <a:off x="7955280" y="1847088"/>
            <a:ext cx="3383280" cy="320040"/>
          </a:xfrm>
          <a:prstGeom prst="rect">
            <a:avLst/>
          </a:prstGeom>
          <a:noFill/>
          <a:ln/>
        </p:spPr>
        <p:txBody>
          <a:bodyPr wrap="square" lIns="0" tIns="0" rIns="0" bIns="0" rtlCol="0" anchor="ctr"/>
          <a:lstStyle/>
          <a:p>
            <a:pPr marL="0" indent="0" algn="l">
              <a:buNone/>
            </a:pPr>
            <a:r>
              <a:rPr lang="en-US" sz="1400" b="1" dirty="0">
                <a:solidFill>
                  <a:srgbClr val="F0F6FC"/>
                </a:solidFill>
                <a:latin typeface="Calibri" pitchFamily="34" charset="0"/>
                <a:ea typeface="Calibri" pitchFamily="34" charset="-122"/>
                <a:cs typeface="Calibri" pitchFamily="34" charset="-120"/>
              </a:rPr>
              <a:t>Written policy</a:t>
            </a:r>
            <a:endParaRPr lang="en-US" sz="1400" dirty="0"/>
          </a:p>
        </p:txBody>
      </p:sp>
      <p:sp>
        <p:nvSpPr>
          <p:cNvPr id="7" name="Text 5"/>
          <p:cNvSpPr/>
          <p:nvPr/>
        </p:nvSpPr>
        <p:spPr>
          <a:xfrm>
            <a:off x="7955280" y="2167128"/>
            <a:ext cx="3383280" cy="274320"/>
          </a:xfrm>
          <a:prstGeom prst="rect">
            <a:avLst/>
          </a:prstGeom>
          <a:noFill/>
          <a:ln/>
        </p:spPr>
        <p:txBody>
          <a:bodyPr wrap="square" lIns="0" tIns="0" rIns="0" bIns="0" rtlCol="0" anchor="ctr"/>
          <a:lstStyle/>
          <a:p>
            <a:pPr marL="0" indent="0" algn="l">
              <a:buNone/>
            </a:pPr>
            <a:r>
              <a:rPr lang="en-US" sz="1050" dirty="0">
                <a:solidFill>
                  <a:srgbClr val="6E7681"/>
                </a:solidFill>
                <a:latin typeface="Consolas" pitchFamily="34" charset="0"/>
                <a:ea typeface="Consolas" pitchFamily="34" charset="-122"/>
                <a:cs typeface="Consolas" pitchFamily="34" charset="-120"/>
              </a:rPr>
              <a:t>PDF / HTML narrative</a:t>
            </a:r>
            <a:endParaRPr lang="en-US" sz="1050" dirty="0"/>
          </a:p>
        </p:txBody>
      </p:sp>
      <p:sp>
        <p:nvSpPr>
          <p:cNvPr id="8" name="Text 6"/>
          <p:cNvSpPr/>
          <p:nvPr/>
        </p:nvSpPr>
        <p:spPr>
          <a:xfrm>
            <a:off x="9464040" y="2450592"/>
            <a:ext cx="365760" cy="274320"/>
          </a:xfrm>
          <a:prstGeom prst="rect">
            <a:avLst/>
          </a:prstGeom>
          <a:noFill/>
          <a:ln/>
        </p:spPr>
        <p:txBody>
          <a:bodyPr wrap="square" lIns="0" tIns="0" rIns="0" bIns="0" rtlCol="0" anchor="ctr"/>
          <a:lstStyle/>
          <a:p>
            <a:pPr marL="0" indent="0" algn="ctr">
              <a:buNone/>
            </a:pPr>
            <a:r>
              <a:rPr lang="en-US" sz="1600" dirty="0">
                <a:solidFill>
                  <a:srgbClr val="E3B341"/>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7772400" y="2743200"/>
            <a:ext cx="3749040" cy="777240"/>
          </a:xfrm>
          <a:prstGeom prst="roundRect">
            <a:avLst>
              <a:gd name="adj" fmla="val 9412"/>
            </a:avLst>
          </a:prstGeom>
          <a:solidFill>
            <a:srgbClr val="161B22"/>
          </a:solidFill>
          <a:ln w="12700">
            <a:solidFill>
              <a:srgbClr val="21262D"/>
            </a:solidFill>
            <a:prstDash val="solid"/>
          </a:ln>
        </p:spPr>
        <p:txBody>
          <a:bodyPr/>
          <a:lstStyle/>
          <a:p>
            <a:endParaRPr lang="en-US"/>
          </a:p>
        </p:txBody>
      </p:sp>
      <p:sp>
        <p:nvSpPr>
          <p:cNvPr id="10" name="Text 8"/>
          <p:cNvSpPr/>
          <p:nvPr/>
        </p:nvSpPr>
        <p:spPr>
          <a:xfrm>
            <a:off x="7955280" y="2852928"/>
            <a:ext cx="3383280" cy="320040"/>
          </a:xfrm>
          <a:prstGeom prst="rect">
            <a:avLst/>
          </a:prstGeom>
          <a:noFill/>
          <a:ln/>
        </p:spPr>
        <p:txBody>
          <a:bodyPr wrap="square" lIns="0" tIns="0" rIns="0" bIns="0" rtlCol="0" anchor="ctr"/>
          <a:lstStyle/>
          <a:p>
            <a:pPr marL="0" indent="0" algn="l">
              <a:buNone/>
            </a:pPr>
            <a:r>
              <a:rPr lang="en-US" sz="1400" b="1" dirty="0">
                <a:solidFill>
                  <a:srgbClr val="F0F6FC"/>
                </a:solidFill>
                <a:latin typeface="Calibri" pitchFamily="34" charset="0"/>
                <a:ea typeface="Calibri" pitchFamily="34" charset="-122"/>
                <a:cs typeface="Calibri" pitchFamily="34" charset="-120"/>
              </a:rPr>
              <a:t>Manual analysis</a:t>
            </a:r>
            <a:endParaRPr lang="en-US" sz="1400" dirty="0"/>
          </a:p>
        </p:txBody>
      </p:sp>
      <p:sp>
        <p:nvSpPr>
          <p:cNvPr id="11" name="Text 9"/>
          <p:cNvSpPr/>
          <p:nvPr/>
        </p:nvSpPr>
        <p:spPr>
          <a:xfrm>
            <a:off x="7955280" y="3172968"/>
            <a:ext cx="3383280" cy="274320"/>
          </a:xfrm>
          <a:prstGeom prst="rect">
            <a:avLst/>
          </a:prstGeom>
          <a:noFill/>
          <a:ln/>
        </p:spPr>
        <p:txBody>
          <a:bodyPr wrap="square" lIns="0" tIns="0" rIns="0" bIns="0" rtlCol="0" anchor="ctr"/>
          <a:lstStyle/>
          <a:p>
            <a:pPr marL="0" indent="0" algn="l">
              <a:buNone/>
            </a:pPr>
            <a:r>
              <a:rPr lang="en-US" sz="1050" dirty="0">
                <a:solidFill>
                  <a:srgbClr val="6E7681"/>
                </a:solidFill>
                <a:latin typeface="Consolas" pitchFamily="34" charset="0"/>
                <a:ea typeface="Consolas" pitchFamily="34" charset="-122"/>
                <a:cs typeface="Consolas" pitchFamily="34" charset="-120"/>
              </a:rPr>
              <a:t>read · interpret · spec</a:t>
            </a:r>
            <a:endParaRPr lang="en-US" sz="1050" dirty="0"/>
          </a:p>
        </p:txBody>
      </p:sp>
      <p:sp>
        <p:nvSpPr>
          <p:cNvPr id="12" name="Text 10"/>
          <p:cNvSpPr/>
          <p:nvPr/>
        </p:nvSpPr>
        <p:spPr>
          <a:xfrm>
            <a:off x="9464040" y="3456432"/>
            <a:ext cx="365760" cy="274320"/>
          </a:xfrm>
          <a:prstGeom prst="rect">
            <a:avLst/>
          </a:prstGeom>
          <a:noFill/>
          <a:ln/>
        </p:spPr>
        <p:txBody>
          <a:bodyPr wrap="square" lIns="0" tIns="0" rIns="0" bIns="0" rtlCol="0" anchor="ctr"/>
          <a:lstStyle/>
          <a:p>
            <a:pPr marL="0" indent="0" algn="ctr">
              <a:buNone/>
            </a:pPr>
            <a:r>
              <a:rPr lang="en-US" sz="1600" dirty="0">
                <a:solidFill>
                  <a:srgbClr val="E3B341"/>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7772400" y="3749040"/>
            <a:ext cx="3749040" cy="777240"/>
          </a:xfrm>
          <a:prstGeom prst="roundRect">
            <a:avLst>
              <a:gd name="adj" fmla="val 9412"/>
            </a:avLst>
          </a:prstGeom>
          <a:solidFill>
            <a:srgbClr val="161B22"/>
          </a:solidFill>
          <a:ln w="12700">
            <a:solidFill>
              <a:srgbClr val="21262D"/>
            </a:solidFill>
            <a:prstDash val="solid"/>
          </a:ln>
        </p:spPr>
        <p:txBody>
          <a:bodyPr/>
          <a:lstStyle/>
          <a:p>
            <a:endParaRPr lang="en-US"/>
          </a:p>
        </p:txBody>
      </p:sp>
      <p:sp>
        <p:nvSpPr>
          <p:cNvPr id="14" name="Text 12"/>
          <p:cNvSpPr/>
          <p:nvPr/>
        </p:nvSpPr>
        <p:spPr>
          <a:xfrm>
            <a:off x="7955280" y="3858768"/>
            <a:ext cx="3383280" cy="320040"/>
          </a:xfrm>
          <a:prstGeom prst="rect">
            <a:avLst/>
          </a:prstGeom>
          <a:noFill/>
          <a:ln/>
        </p:spPr>
        <p:txBody>
          <a:bodyPr wrap="square" lIns="0" tIns="0" rIns="0" bIns="0" rtlCol="0" anchor="ctr"/>
          <a:lstStyle/>
          <a:p>
            <a:pPr marL="0" indent="0" algn="l">
              <a:buNone/>
            </a:pPr>
            <a:r>
              <a:rPr lang="en-US" sz="1400" b="1" dirty="0">
                <a:solidFill>
                  <a:srgbClr val="F0F6FC"/>
                </a:solidFill>
                <a:latin typeface="Calibri" pitchFamily="34" charset="0"/>
                <a:ea typeface="Calibri" pitchFamily="34" charset="-122"/>
                <a:cs typeface="Calibri" pitchFamily="34" charset="-120"/>
              </a:rPr>
              <a:t>Hand-coded rules</a:t>
            </a:r>
            <a:endParaRPr lang="en-US" sz="1400" dirty="0"/>
          </a:p>
        </p:txBody>
      </p:sp>
      <p:sp>
        <p:nvSpPr>
          <p:cNvPr id="15" name="Text 13"/>
          <p:cNvSpPr/>
          <p:nvPr/>
        </p:nvSpPr>
        <p:spPr>
          <a:xfrm>
            <a:off x="7955280" y="4178808"/>
            <a:ext cx="3383280" cy="274320"/>
          </a:xfrm>
          <a:prstGeom prst="rect">
            <a:avLst/>
          </a:prstGeom>
          <a:noFill/>
          <a:ln/>
        </p:spPr>
        <p:txBody>
          <a:bodyPr wrap="square" lIns="0" tIns="0" rIns="0" bIns="0" rtlCol="0" anchor="ctr"/>
          <a:lstStyle/>
          <a:p>
            <a:pPr marL="0" indent="0" algn="l">
              <a:buNone/>
            </a:pPr>
            <a:r>
              <a:rPr lang="en-US" sz="1050" dirty="0">
                <a:solidFill>
                  <a:srgbClr val="6E7681"/>
                </a:solidFill>
                <a:latin typeface="Consolas" pitchFamily="34" charset="0"/>
                <a:ea typeface="Consolas" pitchFamily="34" charset="-122"/>
                <a:cs typeface="Consolas" pitchFamily="34" charset="-120"/>
              </a:rPr>
              <a:t>weeks of engineering</a:t>
            </a:r>
            <a:endParaRPr lang="en-US" sz="1050" dirty="0"/>
          </a:p>
        </p:txBody>
      </p:sp>
      <p:sp>
        <p:nvSpPr>
          <p:cNvPr id="16" name="Text 14"/>
          <p:cNvSpPr/>
          <p:nvPr/>
        </p:nvSpPr>
        <p:spPr>
          <a:xfrm>
            <a:off x="9464040" y="4462272"/>
            <a:ext cx="365760" cy="274320"/>
          </a:xfrm>
          <a:prstGeom prst="rect">
            <a:avLst/>
          </a:prstGeom>
          <a:noFill/>
          <a:ln/>
        </p:spPr>
        <p:txBody>
          <a:bodyPr wrap="square" lIns="0" tIns="0" rIns="0" bIns="0" rtlCol="0" anchor="ctr"/>
          <a:lstStyle/>
          <a:p>
            <a:pPr marL="0" indent="0" algn="ctr">
              <a:buNone/>
            </a:pPr>
            <a:r>
              <a:rPr lang="en-US" sz="1600" dirty="0">
                <a:solidFill>
                  <a:srgbClr val="E3B341"/>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7772400" y="4754880"/>
            <a:ext cx="3749040" cy="777240"/>
          </a:xfrm>
          <a:prstGeom prst="roundRect">
            <a:avLst>
              <a:gd name="adj" fmla="val 9412"/>
            </a:avLst>
          </a:prstGeom>
          <a:solidFill>
            <a:srgbClr val="161B22"/>
          </a:solidFill>
          <a:ln w="12700">
            <a:solidFill>
              <a:srgbClr val="21262D"/>
            </a:solidFill>
            <a:prstDash val="solid"/>
          </a:ln>
        </p:spPr>
        <p:txBody>
          <a:bodyPr/>
          <a:lstStyle/>
          <a:p>
            <a:endParaRPr lang="en-US"/>
          </a:p>
        </p:txBody>
      </p:sp>
      <p:sp>
        <p:nvSpPr>
          <p:cNvPr id="18" name="Text 16"/>
          <p:cNvSpPr/>
          <p:nvPr/>
        </p:nvSpPr>
        <p:spPr>
          <a:xfrm>
            <a:off x="7955280" y="4864608"/>
            <a:ext cx="3383280" cy="320040"/>
          </a:xfrm>
          <a:prstGeom prst="rect">
            <a:avLst/>
          </a:prstGeom>
          <a:noFill/>
          <a:ln/>
        </p:spPr>
        <p:txBody>
          <a:bodyPr wrap="square" lIns="0" tIns="0" rIns="0" bIns="0" rtlCol="0" anchor="ctr"/>
          <a:lstStyle/>
          <a:p>
            <a:pPr marL="0" indent="0" algn="l">
              <a:buNone/>
            </a:pPr>
            <a:r>
              <a:rPr lang="en-US" sz="1400" b="1" dirty="0">
                <a:solidFill>
                  <a:srgbClr val="F0F6FC"/>
                </a:solidFill>
                <a:latin typeface="Calibri" pitchFamily="34" charset="0"/>
                <a:ea typeface="Calibri" pitchFamily="34" charset="-122"/>
                <a:cs typeface="Calibri" pitchFamily="34" charset="-120"/>
              </a:rPr>
              <a:t>Claims adjudication</a:t>
            </a:r>
            <a:endParaRPr lang="en-US" sz="1400" dirty="0"/>
          </a:p>
        </p:txBody>
      </p:sp>
      <p:sp>
        <p:nvSpPr>
          <p:cNvPr id="19" name="Text 17"/>
          <p:cNvSpPr/>
          <p:nvPr/>
        </p:nvSpPr>
        <p:spPr>
          <a:xfrm>
            <a:off x="7955280" y="5184648"/>
            <a:ext cx="3383280" cy="274320"/>
          </a:xfrm>
          <a:prstGeom prst="rect">
            <a:avLst/>
          </a:prstGeom>
          <a:noFill/>
          <a:ln/>
        </p:spPr>
        <p:txBody>
          <a:bodyPr wrap="square" lIns="0" tIns="0" rIns="0" bIns="0" rtlCol="0" anchor="ctr"/>
          <a:lstStyle/>
          <a:p>
            <a:pPr marL="0" indent="0" algn="l">
              <a:buNone/>
            </a:pPr>
            <a:r>
              <a:rPr lang="en-US" sz="1050" dirty="0">
                <a:solidFill>
                  <a:srgbClr val="6E7681"/>
                </a:solidFill>
                <a:latin typeface="Consolas" pitchFamily="34" charset="0"/>
                <a:ea typeface="Consolas" pitchFamily="34" charset="-122"/>
                <a:cs typeface="Consolas" pitchFamily="34" charset="-120"/>
              </a:rPr>
              <a:t>pay / deny</a:t>
            </a:r>
            <a:endParaRPr lang="en-US" sz="1050" dirty="0"/>
          </a:p>
        </p:txBody>
      </p:sp>
      <p:sp>
        <p:nvSpPr>
          <p:cNvPr id="20" name="Text 18"/>
          <p:cNvSpPr/>
          <p:nvPr/>
        </p:nvSpPr>
        <p:spPr>
          <a:xfrm>
            <a:off x="640080" y="3749040"/>
            <a:ext cx="6675120" cy="822960"/>
          </a:xfrm>
          <a:prstGeom prst="rect">
            <a:avLst/>
          </a:prstGeom>
          <a:noFill/>
          <a:ln/>
        </p:spPr>
        <p:txBody>
          <a:bodyPr wrap="square" rtlCol="0" anchor="ctr"/>
          <a:lstStyle/>
          <a:p>
            <a:pPr marL="0" indent="0" algn="l">
              <a:buNone/>
            </a:pPr>
            <a:r>
              <a:rPr lang="en-US" sz="1600" i="1" dirty="0">
                <a:solidFill>
                  <a:srgbClr val="E3B341"/>
                </a:solidFill>
                <a:latin typeface="Cambria" pitchFamily="34" charset="0"/>
                <a:ea typeface="Cambria" pitchFamily="34" charset="-122"/>
                <a:cs typeface="Cambria" pitchFamily="34" charset="-120"/>
              </a:rPr>
              <a:t>The bottleneck is not storing documents — it is the human translation between layers.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THE APPROACH</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LLM proposes. A deterministic engine disposes.</a:t>
            </a:r>
            <a:endParaRPr lang="en-US" sz="3200" dirty="0"/>
          </a:p>
        </p:txBody>
      </p:sp>
      <p:sp>
        <p:nvSpPr>
          <p:cNvPr id="4" name="Shape 2"/>
          <p:cNvSpPr/>
          <p:nvPr/>
        </p:nvSpPr>
        <p:spPr>
          <a:xfrm>
            <a:off x="640080" y="1920240"/>
            <a:ext cx="3383280" cy="2377440"/>
          </a:xfrm>
          <a:prstGeom prst="roundRect">
            <a:avLst>
              <a:gd name="adj" fmla="val 3077"/>
            </a:avLst>
          </a:prstGeom>
          <a:solidFill>
            <a:srgbClr val="161B22"/>
          </a:solidFill>
          <a:ln w="12700">
            <a:solidFill>
              <a:srgbClr val="21262D"/>
            </a:solidFill>
            <a:prstDash val="solid"/>
          </a:ln>
        </p:spPr>
        <p:txBody>
          <a:bodyPr/>
          <a:lstStyle/>
          <a:p>
            <a:endParaRPr lang="en-US"/>
          </a:p>
        </p:txBody>
      </p:sp>
      <p:sp>
        <p:nvSpPr>
          <p:cNvPr id="5" name="Text 3"/>
          <p:cNvSpPr/>
          <p:nvPr/>
        </p:nvSpPr>
        <p:spPr>
          <a:xfrm>
            <a:off x="868680" y="2148840"/>
            <a:ext cx="2926080" cy="457200"/>
          </a:xfrm>
          <a:prstGeom prst="rect">
            <a:avLst/>
          </a:prstGeom>
          <a:noFill/>
          <a:ln/>
        </p:spPr>
        <p:txBody>
          <a:bodyPr wrap="square" lIns="0" tIns="0" rIns="0" bIns="0" rtlCol="0" anchor="ctr"/>
          <a:lstStyle/>
          <a:p>
            <a:pPr marL="0" indent="0" algn="l">
              <a:buNone/>
            </a:pPr>
            <a:r>
              <a:rPr lang="en-US" sz="2200" b="1" dirty="0">
                <a:solidFill>
                  <a:srgbClr val="E3B341"/>
                </a:solidFill>
                <a:latin typeface="Cambria" pitchFamily="34" charset="0"/>
                <a:ea typeface="Cambria" pitchFamily="34" charset="-122"/>
                <a:cs typeface="Cambria" pitchFamily="34" charset="-120"/>
              </a:rPr>
              <a:t>Extract</a:t>
            </a:r>
            <a:endParaRPr lang="en-US" sz="2200" dirty="0"/>
          </a:p>
        </p:txBody>
      </p:sp>
      <p:sp>
        <p:nvSpPr>
          <p:cNvPr id="6" name="Text 4"/>
          <p:cNvSpPr/>
          <p:nvPr/>
        </p:nvSpPr>
        <p:spPr>
          <a:xfrm>
            <a:off x="868680" y="2743200"/>
            <a:ext cx="2926080" cy="1371600"/>
          </a:xfrm>
          <a:prstGeom prst="rect">
            <a:avLst/>
          </a:prstGeom>
          <a:noFill/>
          <a:ln/>
        </p:spPr>
        <p:txBody>
          <a:bodyPr wrap="square" lIns="0" tIns="0" rIns="0" bIns="0" rtlCol="0" anchor="ctr"/>
          <a:lstStyle/>
          <a:p>
            <a:pPr marL="0" indent="0" algn="l">
              <a:lnSpc>
                <a:spcPct val="125000"/>
              </a:lnSpc>
              <a:buNone/>
            </a:pPr>
            <a:r>
              <a:rPr lang="en-US" sz="1350" dirty="0">
                <a:solidFill>
                  <a:srgbClr val="C9D1D9"/>
                </a:solidFill>
                <a:latin typeface="Calibri" pitchFamily="34" charset="0"/>
                <a:ea typeface="Calibri" pitchFamily="34" charset="-122"/>
                <a:cs typeface="Calibri" pitchFamily="34" charset="-120"/>
              </a:rPr>
              <a:t>Policy narrative → structured rules, each carrying a character-level citation back to the source document.</a:t>
            </a:r>
            <a:endParaRPr lang="en-US" sz="1350" dirty="0"/>
          </a:p>
        </p:txBody>
      </p:sp>
      <p:sp>
        <p:nvSpPr>
          <p:cNvPr id="7" name="Shape 5"/>
          <p:cNvSpPr/>
          <p:nvPr/>
        </p:nvSpPr>
        <p:spPr>
          <a:xfrm>
            <a:off x="4389120" y="1920240"/>
            <a:ext cx="3383280" cy="2377440"/>
          </a:xfrm>
          <a:prstGeom prst="roundRect">
            <a:avLst>
              <a:gd name="adj" fmla="val 3077"/>
            </a:avLst>
          </a:prstGeom>
          <a:solidFill>
            <a:srgbClr val="161B22"/>
          </a:solidFill>
          <a:ln w="12700">
            <a:solidFill>
              <a:srgbClr val="21262D"/>
            </a:solidFill>
            <a:prstDash val="solid"/>
          </a:ln>
        </p:spPr>
        <p:txBody>
          <a:bodyPr/>
          <a:lstStyle/>
          <a:p>
            <a:endParaRPr lang="en-US"/>
          </a:p>
        </p:txBody>
      </p:sp>
      <p:sp>
        <p:nvSpPr>
          <p:cNvPr id="8" name="Text 6"/>
          <p:cNvSpPr/>
          <p:nvPr/>
        </p:nvSpPr>
        <p:spPr>
          <a:xfrm>
            <a:off x="4617720" y="2148840"/>
            <a:ext cx="2926080" cy="457200"/>
          </a:xfrm>
          <a:prstGeom prst="rect">
            <a:avLst/>
          </a:prstGeom>
          <a:noFill/>
          <a:ln/>
        </p:spPr>
        <p:txBody>
          <a:bodyPr wrap="square" lIns="0" tIns="0" rIns="0" bIns="0" rtlCol="0" anchor="ctr"/>
          <a:lstStyle/>
          <a:p>
            <a:pPr marL="0" indent="0" algn="l">
              <a:buNone/>
            </a:pPr>
            <a:r>
              <a:rPr lang="en-US" sz="2200" b="1" dirty="0">
                <a:solidFill>
                  <a:srgbClr val="58A6FF"/>
                </a:solidFill>
                <a:latin typeface="Cambria" pitchFamily="34" charset="0"/>
                <a:ea typeface="Cambria" pitchFamily="34" charset="-122"/>
                <a:cs typeface="Cambria" pitchFamily="34" charset="-120"/>
              </a:rPr>
              <a:t>Diff</a:t>
            </a:r>
            <a:endParaRPr lang="en-US" sz="2200" dirty="0"/>
          </a:p>
        </p:txBody>
      </p:sp>
      <p:sp>
        <p:nvSpPr>
          <p:cNvPr id="9" name="Text 7"/>
          <p:cNvSpPr/>
          <p:nvPr/>
        </p:nvSpPr>
        <p:spPr>
          <a:xfrm>
            <a:off x="4617720" y="2743200"/>
            <a:ext cx="2926080" cy="1371600"/>
          </a:xfrm>
          <a:prstGeom prst="rect">
            <a:avLst/>
          </a:prstGeom>
          <a:noFill/>
          <a:ln/>
        </p:spPr>
        <p:txBody>
          <a:bodyPr wrap="square" lIns="0" tIns="0" rIns="0" bIns="0" rtlCol="0" anchor="ctr"/>
          <a:lstStyle/>
          <a:p>
            <a:pPr marL="0" indent="0" algn="l">
              <a:lnSpc>
                <a:spcPct val="125000"/>
              </a:lnSpc>
              <a:buNone/>
            </a:pPr>
            <a:r>
              <a:rPr lang="en-US" sz="1350" dirty="0">
                <a:solidFill>
                  <a:srgbClr val="C9D1D9"/>
                </a:solidFill>
                <a:latin typeface="Calibri" pitchFamily="34" charset="0"/>
                <a:ea typeface="Calibri" pitchFamily="34" charset="-122"/>
                <a:cs typeface="Calibri" pitchFamily="34" charset="-120"/>
              </a:rPr>
              <a:t>Compare two policy versions, separate material change from wording, and quantify the dollars at stake.</a:t>
            </a:r>
            <a:endParaRPr lang="en-US" sz="1350" dirty="0"/>
          </a:p>
        </p:txBody>
      </p:sp>
      <p:sp>
        <p:nvSpPr>
          <p:cNvPr id="10" name="Shape 8"/>
          <p:cNvSpPr/>
          <p:nvPr/>
        </p:nvSpPr>
        <p:spPr>
          <a:xfrm>
            <a:off x="8138160" y="1920240"/>
            <a:ext cx="3383280" cy="2377440"/>
          </a:xfrm>
          <a:prstGeom prst="roundRect">
            <a:avLst>
              <a:gd name="adj" fmla="val 3077"/>
            </a:avLst>
          </a:prstGeom>
          <a:solidFill>
            <a:srgbClr val="161B22"/>
          </a:solidFill>
          <a:ln w="12700">
            <a:solidFill>
              <a:srgbClr val="21262D"/>
            </a:solidFill>
            <a:prstDash val="solid"/>
          </a:ln>
        </p:spPr>
        <p:txBody>
          <a:bodyPr/>
          <a:lstStyle/>
          <a:p>
            <a:endParaRPr lang="en-US"/>
          </a:p>
        </p:txBody>
      </p:sp>
      <p:sp>
        <p:nvSpPr>
          <p:cNvPr id="11" name="Text 9"/>
          <p:cNvSpPr/>
          <p:nvPr/>
        </p:nvSpPr>
        <p:spPr>
          <a:xfrm>
            <a:off x="8366760" y="2148840"/>
            <a:ext cx="2926080" cy="457200"/>
          </a:xfrm>
          <a:prstGeom prst="rect">
            <a:avLst/>
          </a:prstGeom>
          <a:noFill/>
          <a:ln/>
        </p:spPr>
        <p:txBody>
          <a:bodyPr wrap="square" lIns="0" tIns="0" rIns="0" bIns="0" rtlCol="0" anchor="ctr"/>
          <a:lstStyle/>
          <a:p>
            <a:pPr marL="0" indent="0" algn="l">
              <a:buNone/>
            </a:pPr>
            <a:r>
              <a:rPr lang="en-US" sz="2200" b="1" dirty="0">
                <a:solidFill>
                  <a:srgbClr val="3FB950"/>
                </a:solidFill>
                <a:latin typeface="Cambria" pitchFamily="34" charset="0"/>
                <a:ea typeface="Cambria" pitchFamily="34" charset="-122"/>
                <a:cs typeface="Cambria" pitchFamily="34" charset="-120"/>
              </a:rPr>
              <a:t>Govern</a:t>
            </a:r>
            <a:endParaRPr lang="en-US" sz="2200" dirty="0"/>
          </a:p>
        </p:txBody>
      </p:sp>
      <p:sp>
        <p:nvSpPr>
          <p:cNvPr id="12" name="Text 10"/>
          <p:cNvSpPr/>
          <p:nvPr/>
        </p:nvSpPr>
        <p:spPr>
          <a:xfrm>
            <a:off x="8366760" y="2743200"/>
            <a:ext cx="2926080" cy="1371600"/>
          </a:xfrm>
          <a:prstGeom prst="rect">
            <a:avLst/>
          </a:prstGeom>
          <a:noFill/>
          <a:ln/>
        </p:spPr>
        <p:txBody>
          <a:bodyPr wrap="square" lIns="0" tIns="0" rIns="0" bIns="0" rtlCol="0" anchor="ctr"/>
          <a:lstStyle/>
          <a:p>
            <a:pPr marL="0" indent="0" algn="l">
              <a:lnSpc>
                <a:spcPct val="125000"/>
              </a:lnSpc>
              <a:buNone/>
            </a:pPr>
            <a:r>
              <a:rPr lang="en-US" sz="1350" dirty="0">
                <a:solidFill>
                  <a:srgbClr val="C9D1D9"/>
                </a:solidFill>
                <a:latin typeface="Calibri" pitchFamily="34" charset="0"/>
                <a:ea typeface="Calibri" pitchFamily="34" charset="-122"/>
                <a:cs typeface="Calibri" pitchFamily="34" charset="-120"/>
              </a:rPr>
              <a:t>Every rule passes validation and a human approval queue before it can execute.</a:t>
            </a:r>
            <a:endParaRPr lang="en-US" sz="1350" dirty="0"/>
          </a:p>
        </p:txBody>
      </p:sp>
      <p:sp>
        <p:nvSpPr>
          <p:cNvPr id="13" name="Shape 11"/>
          <p:cNvSpPr/>
          <p:nvPr/>
        </p:nvSpPr>
        <p:spPr>
          <a:xfrm>
            <a:off x="640080" y="4663440"/>
            <a:ext cx="10881360" cy="1280160"/>
          </a:xfrm>
          <a:prstGeom prst="roundRect">
            <a:avLst>
              <a:gd name="adj" fmla="val 5714"/>
            </a:avLst>
          </a:prstGeom>
          <a:solidFill>
            <a:srgbClr val="1A1400"/>
          </a:solidFill>
          <a:ln w="12700">
            <a:solidFill>
              <a:srgbClr val="21262D"/>
            </a:solidFill>
            <a:prstDash val="solid"/>
          </a:ln>
        </p:spPr>
        <p:txBody>
          <a:bodyPr/>
          <a:lstStyle/>
          <a:p>
            <a:endParaRPr lang="en-US"/>
          </a:p>
        </p:txBody>
      </p:sp>
      <p:sp>
        <p:nvSpPr>
          <p:cNvPr id="14" name="Text 12"/>
          <p:cNvSpPr/>
          <p:nvPr/>
        </p:nvSpPr>
        <p:spPr>
          <a:xfrm>
            <a:off x="914400" y="4892040"/>
            <a:ext cx="10332720" cy="822960"/>
          </a:xfrm>
          <a:prstGeom prst="rect">
            <a:avLst/>
          </a:prstGeom>
          <a:noFill/>
          <a:ln/>
        </p:spPr>
        <p:txBody>
          <a:bodyPr wrap="square" rtlCol="0" anchor="ctr"/>
          <a:lstStyle/>
          <a:p>
            <a:pPr marL="0" indent="0" algn="l">
              <a:lnSpc>
                <a:spcPct val="125000"/>
              </a:lnSpc>
              <a:buNone/>
            </a:pPr>
            <a:r>
              <a:rPr lang="en-US" sz="1500" b="1" dirty="0">
                <a:solidFill>
                  <a:srgbClr val="E3B341"/>
                </a:solidFill>
                <a:latin typeface="Calibri" pitchFamily="34" charset="0"/>
                <a:ea typeface="Calibri" pitchFamily="34" charset="-122"/>
                <a:cs typeface="Calibri" pitchFamily="34" charset="-120"/>
              </a:rPr>
              <a:t>The design commitment.  </a:t>
            </a:r>
            <a:r>
              <a:rPr lang="en-US" sz="1500" dirty="0">
                <a:solidFill>
                  <a:srgbClr val="C9D1D9"/>
                </a:solidFill>
                <a:latin typeface="Calibri" pitchFamily="34" charset="0"/>
                <a:ea typeface="Calibri" pitchFamily="34" charset="-122"/>
                <a:cs typeface="Calibri" pitchFamily="34" charset="-120"/>
              </a:rPr>
              <a:t>The model participates only in rule </a:t>
            </a:r>
            <a:r>
              <a:rPr lang="en-US" sz="1500" b="1" i="1" dirty="0">
                <a:solidFill>
                  <a:srgbClr val="F0F6FC"/>
                </a:solidFill>
                <a:latin typeface="Calibri" pitchFamily="34" charset="0"/>
                <a:ea typeface="Calibri" pitchFamily="34" charset="-122"/>
                <a:cs typeface="Calibri" pitchFamily="34" charset="-120"/>
              </a:rPr>
              <a:t>authoring</a:t>
            </a:r>
            <a:r>
              <a:rPr lang="en-US" sz="1500" dirty="0">
                <a:solidFill>
                  <a:srgbClr val="C9D1D9"/>
                </a:solidFill>
                <a:latin typeface="Calibri" pitchFamily="34" charset="0"/>
                <a:ea typeface="Calibri" pitchFamily="34" charset="-122"/>
                <a:cs typeface="Calibri" pitchFamily="34" charset="-120"/>
              </a:rPr>
              <a:t>. It is never in the adjudication path. Claims are decided by compiled, deterministic code — reproducible, auditable, and defensible on appeal.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ARCHITECTURE</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One pipeline, from policy text to paid claim</a:t>
            </a:r>
            <a:endParaRPr lang="en-US" sz="3200" dirty="0"/>
          </a:p>
        </p:txBody>
      </p:sp>
      <p:sp>
        <p:nvSpPr>
          <p:cNvPr id="4" name="Shape 2"/>
          <p:cNvSpPr/>
          <p:nvPr/>
        </p:nvSpPr>
        <p:spPr>
          <a:xfrm>
            <a:off x="640080" y="2057400"/>
            <a:ext cx="2331720" cy="1417320"/>
          </a:xfrm>
          <a:prstGeom prst="roundRect">
            <a:avLst>
              <a:gd name="adj" fmla="val 3871"/>
            </a:avLst>
          </a:prstGeom>
          <a:solidFill>
            <a:srgbClr val="161B22"/>
          </a:solidFill>
          <a:ln w="19050">
            <a:solidFill>
              <a:srgbClr val="58A6FF"/>
            </a:solidFill>
            <a:prstDash val="solid"/>
          </a:ln>
        </p:spPr>
        <p:txBody>
          <a:bodyPr/>
          <a:lstStyle/>
          <a:p>
            <a:endParaRPr lang="en-US"/>
          </a:p>
        </p:txBody>
      </p:sp>
      <p:sp>
        <p:nvSpPr>
          <p:cNvPr id="5" name="Text 3"/>
          <p:cNvSpPr/>
          <p:nvPr/>
        </p:nvSpPr>
        <p:spPr>
          <a:xfrm>
            <a:off x="777240" y="2167128"/>
            <a:ext cx="2057400" cy="365760"/>
          </a:xfrm>
          <a:prstGeom prst="rect">
            <a:avLst/>
          </a:prstGeom>
          <a:noFill/>
          <a:ln/>
        </p:spPr>
        <p:txBody>
          <a:bodyPr wrap="square" lIns="0" tIns="0" rIns="0" bIns="0" rtlCol="0" anchor="ctr"/>
          <a:lstStyle/>
          <a:p>
            <a:pPr marL="0" indent="0" algn="ctr">
              <a:buNone/>
            </a:pPr>
            <a:r>
              <a:rPr lang="en-US" sz="1300" b="1" dirty="0">
                <a:solidFill>
                  <a:srgbClr val="58A6FF"/>
                </a:solidFill>
                <a:latin typeface="Consolas" pitchFamily="34" charset="0"/>
                <a:ea typeface="Consolas" pitchFamily="34" charset="-122"/>
                <a:cs typeface="Consolas" pitchFamily="34" charset="-120"/>
              </a:rPr>
              <a:t>INGEST</a:t>
            </a:r>
            <a:endParaRPr lang="en-US" sz="1300" dirty="0"/>
          </a:p>
        </p:txBody>
      </p:sp>
      <p:sp>
        <p:nvSpPr>
          <p:cNvPr id="6" name="Text 4"/>
          <p:cNvSpPr/>
          <p:nvPr/>
        </p:nvSpPr>
        <p:spPr>
          <a:xfrm>
            <a:off x="749808" y="2532888"/>
            <a:ext cx="2112264" cy="868680"/>
          </a:xfrm>
          <a:prstGeom prst="rect">
            <a:avLst/>
          </a:prstGeom>
          <a:noFill/>
          <a:ln/>
        </p:spPr>
        <p:txBody>
          <a:bodyPr wrap="square" lIns="0" tIns="0" rIns="0" bIns="0" rtlCol="0" anchor="t"/>
          <a:lstStyle/>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NCCI PTP edits</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Policy Manual</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MCD articles</a:t>
            </a:r>
            <a:endParaRPr lang="en-US" sz="1050" dirty="0"/>
          </a:p>
        </p:txBody>
      </p:sp>
      <p:sp>
        <p:nvSpPr>
          <p:cNvPr id="7" name="Text 5"/>
          <p:cNvSpPr/>
          <p:nvPr/>
        </p:nvSpPr>
        <p:spPr>
          <a:xfrm>
            <a:off x="2971800" y="2564892"/>
            <a:ext cx="411480" cy="320040"/>
          </a:xfrm>
          <a:prstGeom prst="rect">
            <a:avLst/>
          </a:prstGeom>
          <a:noFill/>
          <a:ln/>
        </p:spPr>
        <p:txBody>
          <a:bodyPr wrap="square" lIns="0" tIns="0" rIns="0" bIns="0" rtlCol="0" anchor="ctr"/>
          <a:lstStyle/>
          <a:p>
            <a:pPr marL="0" indent="0" algn="ctr">
              <a:buNone/>
            </a:pPr>
            <a:r>
              <a:rPr lang="en-US" sz="2000" b="1" dirty="0">
                <a:solidFill>
                  <a:srgbClr val="E3B341"/>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383280" y="2057400"/>
            <a:ext cx="2331720" cy="1417320"/>
          </a:xfrm>
          <a:prstGeom prst="roundRect">
            <a:avLst>
              <a:gd name="adj" fmla="val 3871"/>
            </a:avLst>
          </a:prstGeom>
          <a:solidFill>
            <a:srgbClr val="161B22"/>
          </a:solidFill>
          <a:ln w="19050">
            <a:solidFill>
              <a:srgbClr val="E3B341"/>
            </a:solidFill>
            <a:prstDash val="solid"/>
          </a:ln>
        </p:spPr>
        <p:txBody>
          <a:bodyPr/>
          <a:lstStyle/>
          <a:p>
            <a:endParaRPr lang="en-US"/>
          </a:p>
        </p:txBody>
      </p:sp>
      <p:sp>
        <p:nvSpPr>
          <p:cNvPr id="9" name="Text 7"/>
          <p:cNvSpPr/>
          <p:nvPr/>
        </p:nvSpPr>
        <p:spPr>
          <a:xfrm>
            <a:off x="3520440" y="2167128"/>
            <a:ext cx="2057400" cy="365760"/>
          </a:xfrm>
          <a:prstGeom prst="rect">
            <a:avLst/>
          </a:prstGeom>
          <a:noFill/>
          <a:ln/>
        </p:spPr>
        <p:txBody>
          <a:bodyPr wrap="square" lIns="0" tIns="0" rIns="0" bIns="0" rtlCol="0" anchor="ctr"/>
          <a:lstStyle/>
          <a:p>
            <a:pPr marL="0" indent="0" algn="ctr">
              <a:buNone/>
            </a:pPr>
            <a:r>
              <a:rPr lang="en-US" sz="1300" b="1" dirty="0">
                <a:solidFill>
                  <a:srgbClr val="E3B341"/>
                </a:solidFill>
                <a:latin typeface="Consolas" pitchFamily="34" charset="0"/>
                <a:ea typeface="Consolas" pitchFamily="34" charset="-122"/>
                <a:cs typeface="Consolas" pitchFamily="34" charset="-120"/>
              </a:rPr>
              <a:t>EXTRACT</a:t>
            </a:r>
            <a:endParaRPr lang="en-US" sz="1300" dirty="0"/>
          </a:p>
        </p:txBody>
      </p:sp>
      <p:sp>
        <p:nvSpPr>
          <p:cNvPr id="10" name="Text 8"/>
          <p:cNvSpPr/>
          <p:nvPr/>
        </p:nvSpPr>
        <p:spPr>
          <a:xfrm>
            <a:off x="3493008" y="2532888"/>
            <a:ext cx="2112264" cy="868680"/>
          </a:xfrm>
          <a:prstGeom prst="rect">
            <a:avLst/>
          </a:prstGeom>
          <a:noFill/>
          <a:ln/>
        </p:spPr>
        <p:txBody>
          <a:bodyPr wrap="square" lIns="0" tIns="0" rIns="0" bIns="0" rtlCol="0" anchor="t"/>
          <a:lstStyle/>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LLM + strict schema</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structured output</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span + confidence</a:t>
            </a:r>
            <a:endParaRPr lang="en-US" sz="1050" dirty="0"/>
          </a:p>
        </p:txBody>
      </p:sp>
      <p:sp>
        <p:nvSpPr>
          <p:cNvPr id="11" name="Text 9"/>
          <p:cNvSpPr/>
          <p:nvPr/>
        </p:nvSpPr>
        <p:spPr>
          <a:xfrm>
            <a:off x="5715000" y="2564892"/>
            <a:ext cx="411480" cy="320040"/>
          </a:xfrm>
          <a:prstGeom prst="rect">
            <a:avLst/>
          </a:prstGeom>
          <a:noFill/>
          <a:ln/>
        </p:spPr>
        <p:txBody>
          <a:bodyPr wrap="square" lIns="0" tIns="0" rIns="0" bIns="0" rtlCol="0" anchor="ctr"/>
          <a:lstStyle/>
          <a:p>
            <a:pPr marL="0" indent="0" algn="ctr">
              <a:buNone/>
            </a:pPr>
            <a:r>
              <a:rPr lang="en-US" sz="2000" b="1" dirty="0">
                <a:solidFill>
                  <a:srgbClr val="E3B341"/>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126480" y="2057400"/>
            <a:ext cx="2331720" cy="1417320"/>
          </a:xfrm>
          <a:prstGeom prst="roundRect">
            <a:avLst>
              <a:gd name="adj" fmla="val 3871"/>
            </a:avLst>
          </a:prstGeom>
          <a:solidFill>
            <a:srgbClr val="161B22"/>
          </a:solidFill>
          <a:ln w="19050">
            <a:solidFill>
              <a:srgbClr val="E3B341"/>
            </a:solidFill>
            <a:prstDash val="solid"/>
          </a:ln>
        </p:spPr>
        <p:txBody>
          <a:bodyPr/>
          <a:lstStyle/>
          <a:p>
            <a:endParaRPr lang="en-US"/>
          </a:p>
        </p:txBody>
      </p:sp>
      <p:sp>
        <p:nvSpPr>
          <p:cNvPr id="13" name="Text 11"/>
          <p:cNvSpPr/>
          <p:nvPr/>
        </p:nvSpPr>
        <p:spPr>
          <a:xfrm>
            <a:off x="6263640" y="2167128"/>
            <a:ext cx="2057400" cy="365760"/>
          </a:xfrm>
          <a:prstGeom prst="rect">
            <a:avLst/>
          </a:prstGeom>
          <a:noFill/>
          <a:ln/>
        </p:spPr>
        <p:txBody>
          <a:bodyPr wrap="square" lIns="0" tIns="0" rIns="0" bIns="0" rtlCol="0" anchor="ctr"/>
          <a:lstStyle/>
          <a:p>
            <a:pPr marL="0" indent="0" algn="ctr">
              <a:buNone/>
            </a:pPr>
            <a:r>
              <a:rPr lang="en-US" sz="1300" b="1" dirty="0">
                <a:solidFill>
                  <a:srgbClr val="E3B341"/>
                </a:solidFill>
                <a:latin typeface="Consolas" pitchFamily="34" charset="0"/>
                <a:ea typeface="Consolas" pitchFamily="34" charset="-122"/>
                <a:cs typeface="Consolas" pitchFamily="34" charset="-120"/>
              </a:rPr>
              <a:t>VALIDATE</a:t>
            </a:r>
            <a:endParaRPr lang="en-US" sz="1300" dirty="0"/>
          </a:p>
        </p:txBody>
      </p:sp>
      <p:sp>
        <p:nvSpPr>
          <p:cNvPr id="14" name="Text 12"/>
          <p:cNvSpPr/>
          <p:nvPr/>
        </p:nvSpPr>
        <p:spPr>
          <a:xfrm>
            <a:off x="6236208" y="2532888"/>
            <a:ext cx="2112264" cy="868680"/>
          </a:xfrm>
          <a:prstGeom prst="rect">
            <a:avLst/>
          </a:prstGeom>
          <a:noFill/>
          <a:ln/>
        </p:spPr>
        <p:txBody>
          <a:bodyPr wrap="square" lIns="0" tIns="0" rIns="0" bIns="0" rtlCol="0" anchor="t"/>
          <a:lstStyle/>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verbatim span check</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code format</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confidence threshold</a:t>
            </a:r>
            <a:endParaRPr lang="en-US" sz="1050" dirty="0"/>
          </a:p>
        </p:txBody>
      </p:sp>
      <p:sp>
        <p:nvSpPr>
          <p:cNvPr id="15" name="Text 13"/>
          <p:cNvSpPr/>
          <p:nvPr/>
        </p:nvSpPr>
        <p:spPr>
          <a:xfrm>
            <a:off x="8458200" y="2564892"/>
            <a:ext cx="411480" cy="320040"/>
          </a:xfrm>
          <a:prstGeom prst="rect">
            <a:avLst/>
          </a:prstGeom>
          <a:noFill/>
          <a:ln/>
        </p:spPr>
        <p:txBody>
          <a:bodyPr wrap="square" lIns="0" tIns="0" rIns="0" bIns="0" rtlCol="0" anchor="ctr"/>
          <a:lstStyle/>
          <a:p>
            <a:pPr marL="0" indent="0" algn="ctr">
              <a:buNone/>
            </a:pPr>
            <a:r>
              <a:rPr lang="en-US" sz="2000" b="1" dirty="0">
                <a:solidFill>
                  <a:srgbClr val="E3B341"/>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869680" y="2057400"/>
            <a:ext cx="2331720" cy="1417320"/>
          </a:xfrm>
          <a:prstGeom prst="roundRect">
            <a:avLst>
              <a:gd name="adj" fmla="val 3871"/>
            </a:avLst>
          </a:prstGeom>
          <a:solidFill>
            <a:srgbClr val="161B22"/>
          </a:solidFill>
          <a:ln w="19050">
            <a:solidFill>
              <a:srgbClr val="3FB950"/>
            </a:solidFill>
            <a:prstDash val="solid"/>
          </a:ln>
        </p:spPr>
        <p:txBody>
          <a:bodyPr/>
          <a:lstStyle/>
          <a:p>
            <a:endParaRPr lang="en-US"/>
          </a:p>
        </p:txBody>
      </p:sp>
      <p:sp>
        <p:nvSpPr>
          <p:cNvPr id="17" name="Text 15"/>
          <p:cNvSpPr/>
          <p:nvPr/>
        </p:nvSpPr>
        <p:spPr>
          <a:xfrm>
            <a:off x="9006840" y="2167128"/>
            <a:ext cx="2057400" cy="365760"/>
          </a:xfrm>
          <a:prstGeom prst="rect">
            <a:avLst/>
          </a:prstGeom>
          <a:noFill/>
          <a:ln/>
        </p:spPr>
        <p:txBody>
          <a:bodyPr wrap="square" lIns="0" tIns="0" rIns="0" bIns="0" rtlCol="0" anchor="ctr"/>
          <a:lstStyle/>
          <a:p>
            <a:pPr marL="0" indent="0" algn="ctr">
              <a:buNone/>
            </a:pPr>
            <a:r>
              <a:rPr lang="en-US" sz="1300" b="1" dirty="0">
                <a:solidFill>
                  <a:srgbClr val="3FB950"/>
                </a:solidFill>
                <a:latin typeface="Consolas" pitchFamily="34" charset="0"/>
                <a:ea typeface="Consolas" pitchFamily="34" charset="-122"/>
                <a:cs typeface="Consolas" pitchFamily="34" charset="-120"/>
              </a:rPr>
              <a:t>REVIEW QUEUE</a:t>
            </a:r>
            <a:endParaRPr lang="en-US" sz="1300" dirty="0"/>
          </a:p>
        </p:txBody>
      </p:sp>
      <p:sp>
        <p:nvSpPr>
          <p:cNvPr id="18" name="Text 16"/>
          <p:cNvSpPr/>
          <p:nvPr/>
        </p:nvSpPr>
        <p:spPr>
          <a:xfrm>
            <a:off x="8979408" y="2532888"/>
            <a:ext cx="2112264" cy="868680"/>
          </a:xfrm>
          <a:prstGeom prst="rect">
            <a:avLst/>
          </a:prstGeom>
          <a:noFill/>
          <a:ln/>
        </p:spPr>
        <p:txBody>
          <a:bodyPr wrap="square" lIns="0" tIns="0" rIns="0" bIns="0" rtlCol="0" anchor="t"/>
          <a:lstStyle/>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human approves</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or rejects</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audit log entry</a:t>
            </a:r>
            <a:endParaRPr lang="en-US" sz="1050" dirty="0"/>
          </a:p>
        </p:txBody>
      </p:sp>
      <p:sp>
        <p:nvSpPr>
          <p:cNvPr id="19" name="Text 17"/>
          <p:cNvSpPr/>
          <p:nvPr/>
        </p:nvSpPr>
        <p:spPr>
          <a:xfrm>
            <a:off x="7091172" y="3520440"/>
            <a:ext cx="411480" cy="320040"/>
          </a:xfrm>
          <a:prstGeom prst="rect">
            <a:avLst/>
          </a:prstGeom>
          <a:noFill/>
          <a:ln/>
        </p:spPr>
        <p:txBody>
          <a:bodyPr wrap="square" lIns="0" tIns="0" rIns="0" bIns="0" rtlCol="0" anchor="ctr"/>
          <a:lstStyle/>
          <a:p>
            <a:pPr marL="0" indent="0" algn="ctr">
              <a:buNone/>
            </a:pPr>
            <a:r>
              <a:rPr lang="en-US" sz="2000" b="1" dirty="0">
                <a:solidFill>
                  <a:srgbClr val="F85149"/>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456932" y="3584448"/>
            <a:ext cx="822960" cy="228600"/>
          </a:xfrm>
          <a:prstGeom prst="rect">
            <a:avLst/>
          </a:prstGeom>
          <a:noFill/>
          <a:ln/>
        </p:spPr>
        <p:txBody>
          <a:bodyPr wrap="square" lIns="0" tIns="0" rIns="0" bIns="0" rtlCol="0" anchor="ctr"/>
          <a:lstStyle/>
          <a:p>
            <a:pPr marL="0" indent="0" algn="l">
              <a:buNone/>
            </a:pPr>
            <a:r>
              <a:rPr lang="en-US" sz="850" dirty="0">
                <a:solidFill>
                  <a:srgbClr val="F85149"/>
                </a:solidFill>
                <a:latin typeface="Consolas" pitchFamily="34" charset="0"/>
                <a:ea typeface="Consolas" pitchFamily="34" charset="-122"/>
                <a:cs typeface="Consolas" pitchFamily="34" charset="-120"/>
              </a:rPr>
              <a:t>REJECT</a:t>
            </a:r>
            <a:endParaRPr lang="en-US" sz="850" dirty="0"/>
          </a:p>
        </p:txBody>
      </p:sp>
      <p:sp>
        <p:nvSpPr>
          <p:cNvPr id="21" name="Shape 19"/>
          <p:cNvSpPr/>
          <p:nvPr/>
        </p:nvSpPr>
        <p:spPr>
          <a:xfrm>
            <a:off x="6126480" y="4041648"/>
            <a:ext cx="2331720" cy="960120"/>
          </a:xfrm>
          <a:prstGeom prst="roundRect">
            <a:avLst>
              <a:gd name="adj" fmla="val 5714"/>
            </a:avLst>
          </a:prstGeom>
          <a:solidFill>
            <a:srgbClr val="161B22"/>
          </a:solidFill>
          <a:ln w="19050">
            <a:solidFill>
              <a:srgbClr val="F85149"/>
            </a:solidFill>
            <a:prstDash val="solid"/>
          </a:ln>
        </p:spPr>
        <p:txBody>
          <a:bodyPr/>
          <a:lstStyle/>
          <a:p>
            <a:endParaRPr lang="en-US"/>
          </a:p>
        </p:txBody>
      </p:sp>
      <p:sp>
        <p:nvSpPr>
          <p:cNvPr id="22" name="Text 20"/>
          <p:cNvSpPr/>
          <p:nvPr/>
        </p:nvSpPr>
        <p:spPr>
          <a:xfrm>
            <a:off x="6263640" y="4151376"/>
            <a:ext cx="2057400" cy="365760"/>
          </a:xfrm>
          <a:prstGeom prst="rect">
            <a:avLst/>
          </a:prstGeom>
          <a:noFill/>
          <a:ln/>
        </p:spPr>
        <p:txBody>
          <a:bodyPr wrap="square" lIns="0" tIns="0" rIns="0" bIns="0" rtlCol="0" anchor="ctr"/>
          <a:lstStyle/>
          <a:p>
            <a:pPr marL="0" indent="0" algn="ctr">
              <a:buNone/>
            </a:pPr>
            <a:r>
              <a:rPr lang="en-US" sz="1300" b="1" dirty="0">
                <a:solidFill>
                  <a:srgbClr val="F85149"/>
                </a:solidFill>
                <a:latin typeface="Consolas" pitchFamily="34" charset="0"/>
                <a:ea typeface="Consolas" pitchFamily="34" charset="-122"/>
                <a:cs typeface="Consolas" pitchFamily="34" charset="-120"/>
              </a:rPr>
              <a:t>DISCARDED</a:t>
            </a:r>
            <a:endParaRPr lang="en-US" sz="1300" dirty="0"/>
          </a:p>
        </p:txBody>
      </p:sp>
      <p:sp>
        <p:nvSpPr>
          <p:cNvPr id="23" name="Text 21"/>
          <p:cNvSpPr/>
          <p:nvPr/>
        </p:nvSpPr>
        <p:spPr>
          <a:xfrm>
            <a:off x="6236208" y="4517136"/>
            <a:ext cx="2112264" cy="411480"/>
          </a:xfrm>
          <a:prstGeom prst="rect">
            <a:avLst/>
          </a:prstGeom>
          <a:noFill/>
          <a:ln/>
        </p:spPr>
        <p:txBody>
          <a:bodyPr wrap="square" lIns="0" tIns="0" rIns="0" bIns="0" rtlCol="0" anchor="t"/>
          <a:lstStyle/>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quoted span absent</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from source text</a:t>
            </a:r>
            <a:endParaRPr lang="en-US" sz="1050" dirty="0"/>
          </a:p>
        </p:txBody>
      </p:sp>
      <p:sp>
        <p:nvSpPr>
          <p:cNvPr id="24" name="Text 22"/>
          <p:cNvSpPr/>
          <p:nvPr/>
        </p:nvSpPr>
        <p:spPr>
          <a:xfrm>
            <a:off x="9834372" y="3520440"/>
            <a:ext cx="411480" cy="320040"/>
          </a:xfrm>
          <a:prstGeom prst="rect">
            <a:avLst/>
          </a:prstGeom>
          <a:noFill/>
          <a:ln/>
        </p:spPr>
        <p:txBody>
          <a:bodyPr wrap="square" lIns="0" tIns="0" rIns="0" bIns="0" rtlCol="0" anchor="ctr"/>
          <a:lstStyle/>
          <a:p>
            <a:pPr marL="0" indent="0" algn="ctr">
              <a:buNone/>
            </a:pPr>
            <a:r>
              <a:rPr lang="en-US" sz="2000" b="1" dirty="0">
                <a:solidFill>
                  <a:srgbClr val="3FB950"/>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10200132" y="3584448"/>
            <a:ext cx="1005840" cy="228600"/>
          </a:xfrm>
          <a:prstGeom prst="rect">
            <a:avLst/>
          </a:prstGeom>
          <a:noFill/>
          <a:ln/>
        </p:spPr>
        <p:txBody>
          <a:bodyPr wrap="square" lIns="0" tIns="0" rIns="0" bIns="0" rtlCol="0" anchor="ctr"/>
          <a:lstStyle/>
          <a:p>
            <a:pPr marL="0" indent="0" algn="l">
              <a:buNone/>
            </a:pPr>
            <a:r>
              <a:rPr lang="en-US" sz="850" dirty="0">
                <a:solidFill>
                  <a:srgbClr val="3FB950"/>
                </a:solidFill>
                <a:latin typeface="Consolas" pitchFamily="34" charset="0"/>
                <a:ea typeface="Consolas" pitchFamily="34" charset="-122"/>
                <a:cs typeface="Consolas" pitchFamily="34" charset="-120"/>
              </a:rPr>
              <a:t>APPROVED</a:t>
            </a:r>
            <a:endParaRPr lang="en-US" sz="850" dirty="0"/>
          </a:p>
        </p:txBody>
      </p:sp>
      <p:sp>
        <p:nvSpPr>
          <p:cNvPr id="26" name="Shape 24"/>
          <p:cNvSpPr/>
          <p:nvPr/>
        </p:nvSpPr>
        <p:spPr>
          <a:xfrm>
            <a:off x="8869680" y="4041648"/>
            <a:ext cx="2331720" cy="960120"/>
          </a:xfrm>
          <a:prstGeom prst="roundRect">
            <a:avLst>
              <a:gd name="adj" fmla="val 5714"/>
            </a:avLst>
          </a:prstGeom>
          <a:solidFill>
            <a:srgbClr val="161B22"/>
          </a:solidFill>
          <a:ln w="19050">
            <a:solidFill>
              <a:srgbClr val="3FB950"/>
            </a:solidFill>
            <a:prstDash val="solid"/>
          </a:ln>
        </p:spPr>
        <p:txBody>
          <a:bodyPr/>
          <a:lstStyle/>
          <a:p>
            <a:endParaRPr lang="en-US"/>
          </a:p>
        </p:txBody>
      </p:sp>
      <p:sp>
        <p:nvSpPr>
          <p:cNvPr id="27" name="Text 25"/>
          <p:cNvSpPr/>
          <p:nvPr/>
        </p:nvSpPr>
        <p:spPr>
          <a:xfrm>
            <a:off x="9006840" y="4151376"/>
            <a:ext cx="2057400" cy="365760"/>
          </a:xfrm>
          <a:prstGeom prst="rect">
            <a:avLst/>
          </a:prstGeom>
          <a:noFill/>
          <a:ln/>
        </p:spPr>
        <p:txBody>
          <a:bodyPr wrap="square" lIns="0" tIns="0" rIns="0" bIns="0" rtlCol="0" anchor="ctr"/>
          <a:lstStyle/>
          <a:p>
            <a:pPr marL="0" indent="0" algn="ctr">
              <a:buNone/>
            </a:pPr>
            <a:r>
              <a:rPr lang="en-US" sz="1300" b="1" dirty="0">
                <a:solidFill>
                  <a:srgbClr val="3FB950"/>
                </a:solidFill>
                <a:latin typeface="Consolas" pitchFamily="34" charset="0"/>
                <a:ea typeface="Consolas" pitchFamily="34" charset="-122"/>
                <a:cs typeface="Consolas" pitchFamily="34" charset="-120"/>
              </a:rPr>
              <a:t>COMPILE → RUN</a:t>
            </a:r>
            <a:endParaRPr lang="en-US" sz="1300" dirty="0"/>
          </a:p>
        </p:txBody>
      </p:sp>
      <p:sp>
        <p:nvSpPr>
          <p:cNvPr id="28" name="Text 26"/>
          <p:cNvSpPr/>
          <p:nvPr/>
        </p:nvSpPr>
        <p:spPr>
          <a:xfrm>
            <a:off x="8979408" y="4517136"/>
            <a:ext cx="2112264" cy="411480"/>
          </a:xfrm>
          <a:prstGeom prst="rect">
            <a:avLst/>
          </a:prstGeom>
          <a:noFill/>
          <a:ln/>
        </p:spPr>
        <p:txBody>
          <a:bodyPr wrap="square" lIns="0" tIns="0" rIns="0" bIns="0" rtlCol="0" anchor="t"/>
          <a:lstStyle/>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deterministic Python</a:t>
            </a:r>
            <a:endParaRPr lang="en-US" sz="1050" dirty="0"/>
          </a:p>
          <a:p>
            <a:pPr marL="0" indent="0" algn="ctr">
              <a:lnSpc>
                <a:spcPct val="110000"/>
              </a:lnSpc>
              <a:buNone/>
            </a:pPr>
            <a:r>
              <a:rPr lang="en-US" sz="1050" dirty="0">
                <a:solidFill>
                  <a:srgbClr val="C9D1D9"/>
                </a:solidFill>
                <a:latin typeface="Calibri" pitchFamily="34" charset="0"/>
                <a:ea typeface="Calibri" pitchFamily="34" charset="-122"/>
                <a:cs typeface="Calibri" pitchFamily="34" charset="-120"/>
              </a:rPr>
              <a:t>pay / deny + citation</a:t>
            </a:r>
            <a:endParaRPr lang="en-US" sz="1050" dirty="0"/>
          </a:p>
        </p:txBody>
      </p:sp>
      <p:sp>
        <p:nvSpPr>
          <p:cNvPr id="29" name="Shape 27"/>
          <p:cNvSpPr/>
          <p:nvPr/>
        </p:nvSpPr>
        <p:spPr>
          <a:xfrm>
            <a:off x="640080" y="5349240"/>
            <a:ext cx="2651760" cy="1371600"/>
          </a:xfrm>
          <a:prstGeom prst="roundRect">
            <a:avLst>
              <a:gd name="adj" fmla="val 5333"/>
            </a:avLst>
          </a:prstGeom>
          <a:solidFill>
            <a:srgbClr val="161B22"/>
          </a:solidFill>
          <a:ln w="12700">
            <a:solidFill>
              <a:srgbClr val="21262D"/>
            </a:solidFill>
            <a:prstDash val="solid"/>
          </a:ln>
        </p:spPr>
        <p:txBody>
          <a:bodyPr/>
          <a:lstStyle/>
          <a:p>
            <a:endParaRPr lang="en-US"/>
          </a:p>
        </p:txBody>
      </p:sp>
      <p:sp>
        <p:nvSpPr>
          <p:cNvPr id="30" name="Text 28"/>
          <p:cNvSpPr/>
          <p:nvPr/>
        </p:nvSpPr>
        <p:spPr>
          <a:xfrm>
            <a:off x="777240" y="5532120"/>
            <a:ext cx="2377440" cy="685800"/>
          </a:xfrm>
          <a:prstGeom prst="rect">
            <a:avLst/>
          </a:prstGeom>
          <a:noFill/>
          <a:ln/>
        </p:spPr>
        <p:txBody>
          <a:bodyPr wrap="square" lIns="0" tIns="0" rIns="0" bIns="0" rtlCol="0" anchor="ctr"/>
          <a:lstStyle/>
          <a:p>
            <a:pPr marL="0" indent="0" algn="l">
              <a:buNone/>
            </a:pPr>
            <a:r>
              <a:rPr lang="en-US" sz="3400" b="1" dirty="0">
                <a:solidFill>
                  <a:srgbClr val="F0F6FC"/>
                </a:solidFill>
                <a:latin typeface="Consolas" pitchFamily="34" charset="0"/>
                <a:ea typeface="Consolas" pitchFamily="34" charset="-122"/>
                <a:cs typeface="Consolas" pitchFamily="34" charset="-120"/>
              </a:rPr>
              <a:t>2.3M</a:t>
            </a:r>
            <a:endParaRPr lang="en-US" sz="3400" dirty="0"/>
          </a:p>
        </p:txBody>
      </p:sp>
      <p:sp>
        <p:nvSpPr>
          <p:cNvPr id="31" name="Text 29"/>
          <p:cNvSpPr/>
          <p:nvPr/>
        </p:nvSpPr>
        <p:spPr>
          <a:xfrm>
            <a:off x="777240" y="6245352"/>
            <a:ext cx="2377440" cy="365760"/>
          </a:xfrm>
          <a:prstGeom prst="rect">
            <a:avLst/>
          </a:prstGeom>
          <a:noFill/>
          <a:ln/>
        </p:spPr>
        <p:txBody>
          <a:bodyPr wrap="square" lIns="0" tIns="0" rIns="0" bIns="0" rtlCol="0" anchor="ctr"/>
          <a:lstStyle/>
          <a:p>
            <a:pPr marL="0" indent="0" algn="l">
              <a:buNone/>
            </a:pPr>
            <a:r>
              <a:rPr lang="en-US" sz="1050" kern="0" spc="100" dirty="0">
                <a:solidFill>
                  <a:srgbClr val="6E7681"/>
                </a:solidFill>
                <a:latin typeface="Calibri" pitchFamily="34" charset="0"/>
                <a:ea typeface="Calibri" pitchFamily="34" charset="-122"/>
                <a:cs typeface="Calibri" pitchFamily="34" charset="-120"/>
              </a:rPr>
              <a:t>NCCI EDIT PAIRS</a:t>
            </a:r>
            <a:endParaRPr lang="en-US" sz="1050" dirty="0"/>
          </a:p>
        </p:txBody>
      </p:sp>
      <p:sp>
        <p:nvSpPr>
          <p:cNvPr id="32" name="Shape 30"/>
          <p:cNvSpPr/>
          <p:nvPr/>
        </p:nvSpPr>
        <p:spPr>
          <a:xfrm>
            <a:off x="3429000" y="5349240"/>
            <a:ext cx="2651760" cy="1371600"/>
          </a:xfrm>
          <a:prstGeom prst="roundRect">
            <a:avLst>
              <a:gd name="adj" fmla="val 5333"/>
            </a:avLst>
          </a:prstGeom>
          <a:solidFill>
            <a:srgbClr val="161B22"/>
          </a:solidFill>
          <a:ln w="12700">
            <a:solidFill>
              <a:srgbClr val="21262D"/>
            </a:solidFill>
            <a:prstDash val="solid"/>
          </a:ln>
        </p:spPr>
        <p:txBody>
          <a:bodyPr/>
          <a:lstStyle/>
          <a:p>
            <a:endParaRPr lang="en-US"/>
          </a:p>
        </p:txBody>
      </p:sp>
      <p:sp>
        <p:nvSpPr>
          <p:cNvPr id="33" name="Text 31"/>
          <p:cNvSpPr/>
          <p:nvPr/>
        </p:nvSpPr>
        <p:spPr>
          <a:xfrm>
            <a:off x="3566160" y="5532120"/>
            <a:ext cx="2377440" cy="685800"/>
          </a:xfrm>
          <a:prstGeom prst="rect">
            <a:avLst/>
          </a:prstGeom>
          <a:noFill/>
          <a:ln/>
        </p:spPr>
        <p:txBody>
          <a:bodyPr wrap="square" lIns="0" tIns="0" rIns="0" bIns="0" rtlCol="0" anchor="ctr"/>
          <a:lstStyle/>
          <a:p>
            <a:pPr marL="0" indent="0" algn="l">
              <a:buNone/>
            </a:pPr>
            <a:r>
              <a:rPr lang="en-US" sz="3400" b="1" dirty="0">
                <a:solidFill>
                  <a:srgbClr val="58A6FF"/>
                </a:solidFill>
                <a:latin typeface="Consolas" pitchFamily="34" charset="0"/>
                <a:ea typeface="Consolas" pitchFamily="34" charset="-122"/>
                <a:cs typeface="Consolas" pitchFamily="34" charset="-120"/>
              </a:rPr>
              <a:t>4,484</a:t>
            </a:r>
            <a:endParaRPr lang="en-US" sz="3400" dirty="0"/>
          </a:p>
        </p:txBody>
      </p:sp>
      <p:sp>
        <p:nvSpPr>
          <p:cNvPr id="34" name="Text 32"/>
          <p:cNvSpPr/>
          <p:nvPr/>
        </p:nvSpPr>
        <p:spPr>
          <a:xfrm>
            <a:off x="3566160" y="6245352"/>
            <a:ext cx="2377440" cy="365760"/>
          </a:xfrm>
          <a:prstGeom prst="rect">
            <a:avLst/>
          </a:prstGeom>
          <a:noFill/>
          <a:ln/>
        </p:spPr>
        <p:txBody>
          <a:bodyPr wrap="square" lIns="0" tIns="0" rIns="0" bIns="0" rtlCol="0" anchor="ctr"/>
          <a:lstStyle/>
          <a:p>
            <a:pPr marL="0" indent="0" algn="l">
              <a:buNone/>
            </a:pPr>
            <a:r>
              <a:rPr lang="en-US" sz="1050" kern="0" spc="100" dirty="0">
                <a:solidFill>
                  <a:srgbClr val="6E7681"/>
                </a:solidFill>
                <a:latin typeface="Calibri" pitchFamily="34" charset="0"/>
                <a:ea typeface="Calibri" pitchFamily="34" charset="-122"/>
                <a:cs typeface="Calibri" pitchFamily="34" charset="-120"/>
              </a:rPr>
              <a:t>COVERAGE ARTICLES</a:t>
            </a:r>
            <a:endParaRPr lang="en-US" sz="1050" dirty="0"/>
          </a:p>
        </p:txBody>
      </p:sp>
      <p:sp>
        <p:nvSpPr>
          <p:cNvPr id="35" name="Shape 33"/>
          <p:cNvSpPr/>
          <p:nvPr/>
        </p:nvSpPr>
        <p:spPr>
          <a:xfrm>
            <a:off x="6217920" y="5349240"/>
            <a:ext cx="2651760" cy="1371600"/>
          </a:xfrm>
          <a:prstGeom prst="roundRect">
            <a:avLst>
              <a:gd name="adj" fmla="val 5333"/>
            </a:avLst>
          </a:prstGeom>
          <a:solidFill>
            <a:srgbClr val="161B22"/>
          </a:solidFill>
          <a:ln w="12700">
            <a:solidFill>
              <a:srgbClr val="21262D"/>
            </a:solidFill>
            <a:prstDash val="solid"/>
          </a:ln>
        </p:spPr>
        <p:txBody>
          <a:bodyPr/>
          <a:lstStyle/>
          <a:p>
            <a:endParaRPr lang="en-US"/>
          </a:p>
        </p:txBody>
      </p:sp>
      <p:sp>
        <p:nvSpPr>
          <p:cNvPr id="36" name="Text 34"/>
          <p:cNvSpPr/>
          <p:nvPr/>
        </p:nvSpPr>
        <p:spPr>
          <a:xfrm>
            <a:off x="6355080" y="5532120"/>
            <a:ext cx="2377440" cy="685800"/>
          </a:xfrm>
          <a:prstGeom prst="rect">
            <a:avLst/>
          </a:prstGeom>
          <a:noFill/>
          <a:ln/>
        </p:spPr>
        <p:txBody>
          <a:bodyPr wrap="square" lIns="0" tIns="0" rIns="0" bIns="0" rtlCol="0" anchor="ctr"/>
          <a:lstStyle/>
          <a:p>
            <a:pPr marL="0" indent="0" algn="l">
              <a:buNone/>
            </a:pPr>
            <a:r>
              <a:rPr lang="en-US" sz="3400" b="1" dirty="0">
                <a:solidFill>
                  <a:srgbClr val="3FB950"/>
                </a:solidFill>
                <a:latin typeface="Consolas" pitchFamily="34" charset="0"/>
                <a:ea typeface="Consolas" pitchFamily="34" charset="-122"/>
                <a:cs typeface="Consolas" pitchFamily="34" charset="-120"/>
              </a:rPr>
              <a:t>$0</a:t>
            </a:r>
            <a:endParaRPr lang="en-US" sz="3400" dirty="0"/>
          </a:p>
        </p:txBody>
      </p:sp>
      <p:sp>
        <p:nvSpPr>
          <p:cNvPr id="37" name="Text 35"/>
          <p:cNvSpPr/>
          <p:nvPr/>
        </p:nvSpPr>
        <p:spPr>
          <a:xfrm>
            <a:off x="6355080" y="6245352"/>
            <a:ext cx="2377440" cy="365760"/>
          </a:xfrm>
          <a:prstGeom prst="rect">
            <a:avLst/>
          </a:prstGeom>
          <a:noFill/>
          <a:ln/>
        </p:spPr>
        <p:txBody>
          <a:bodyPr wrap="square" lIns="0" tIns="0" rIns="0" bIns="0" rtlCol="0" anchor="ctr"/>
          <a:lstStyle/>
          <a:p>
            <a:pPr marL="0" indent="0" algn="l">
              <a:buNone/>
            </a:pPr>
            <a:r>
              <a:rPr lang="en-US" sz="1050" kern="0" spc="100" dirty="0">
                <a:solidFill>
                  <a:srgbClr val="6E7681"/>
                </a:solidFill>
                <a:latin typeface="Calibri" pitchFamily="34" charset="0"/>
                <a:ea typeface="Calibri" pitchFamily="34" charset="-122"/>
                <a:cs typeface="Calibri" pitchFamily="34" charset="-120"/>
              </a:rPr>
              <a:t>PHI / LICENSING RISK</a:t>
            </a:r>
            <a:endParaRPr lang="en-US" sz="1050" dirty="0"/>
          </a:p>
        </p:txBody>
      </p:sp>
      <p:sp>
        <p:nvSpPr>
          <p:cNvPr id="38" name="Shape 36"/>
          <p:cNvSpPr/>
          <p:nvPr/>
        </p:nvSpPr>
        <p:spPr>
          <a:xfrm>
            <a:off x="9006840" y="5349240"/>
            <a:ext cx="2880360" cy="1371600"/>
          </a:xfrm>
          <a:prstGeom prst="roundRect">
            <a:avLst>
              <a:gd name="adj" fmla="val 5333"/>
            </a:avLst>
          </a:prstGeom>
          <a:solidFill>
            <a:srgbClr val="161B22"/>
          </a:solidFill>
          <a:ln w="12700">
            <a:solidFill>
              <a:srgbClr val="21262D"/>
            </a:solidFill>
            <a:prstDash val="solid"/>
          </a:ln>
        </p:spPr>
        <p:txBody>
          <a:bodyPr/>
          <a:lstStyle/>
          <a:p>
            <a:endParaRPr lang="en-US"/>
          </a:p>
        </p:txBody>
      </p:sp>
      <p:sp>
        <p:nvSpPr>
          <p:cNvPr id="39" name="Text 37"/>
          <p:cNvSpPr/>
          <p:nvPr/>
        </p:nvSpPr>
        <p:spPr>
          <a:xfrm>
            <a:off x="9144000" y="5532120"/>
            <a:ext cx="2606040" cy="685800"/>
          </a:xfrm>
          <a:prstGeom prst="rect">
            <a:avLst/>
          </a:prstGeom>
          <a:noFill/>
          <a:ln/>
        </p:spPr>
        <p:txBody>
          <a:bodyPr wrap="square" lIns="0" tIns="0" rIns="0" bIns="0" rtlCol="0" anchor="ctr"/>
          <a:lstStyle/>
          <a:p>
            <a:pPr marL="0" indent="0" algn="l">
              <a:buNone/>
            </a:pPr>
            <a:r>
              <a:rPr lang="en-US" sz="3400" b="1" dirty="0">
                <a:solidFill>
                  <a:srgbClr val="E3B341"/>
                </a:solidFill>
                <a:latin typeface="Consolas" pitchFamily="34" charset="0"/>
                <a:ea typeface="Consolas" pitchFamily="34" charset="-122"/>
                <a:cs typeface="Consolas" pitchFamily="34" charset="-120"/>
              </a:rPr>
              <a:t>100%</a:t>
            </a:r>
            <a:endParaRPr lang="en-US" sz="3400" dirty="0"/>
          </a:p>
        </p:txBody>
      </p:sp>
      <p:sp>
        <p:nvSpPr>
          <p:cNvPr id="40" name="Text 38"/>
          <p:cNvSpPr/>
          <p:nvPr/>
        </p:nvSpPr>
        <p:spPr>
          <a:xfrm>
            <a:off x="9144000" y="6245352"/>
            <a:ext cx="2606040" cy="365760"/>
          </a:xfrm>
          <a:prstGeom prst="rect">
            <a:avLst/>
          </a:prstGeom>
          <a:noFill/>
          <a:ln/>
        </p:spPr>
        <p:txBody>
          <a:bodyPr wrap="square" lIns="0" tIns="0" rIns="0" bIns="0" rtlCol="0" anchor="ctr"/>
          <a:lstStyle/>
          <a:p>
            <a:pPr marL="0" indent="0" algn="l">
              <a:buNone/>
            </a:pPr>
            <a:r>
              <a:rPr lang="en-US" sz="1050" kern="0" spc="100" dirty="0">
                <a:solidFill>
                  <a:srgbClr val="6E7681"/>
                </a:solidFill>
                <a:latin typeface="Calibri" pitchFamily="34" charset="0"/>
                <a:ea typeface="Calibri" pitchFamily="34" charset="-122"/>
                <a:cs typeface="Calibri" pitchFamily="34" charset="-120"/>
              </a:rPr>
              <a:t>PUBLIC CMS DATA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CAPABILITY 1 — EXTRACT</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Every rule cites the exact text that justifies it</a:t>
            </a:r>
            <a:endParaRPr lang="en-US" sz="3200" dirty="0"/>
          </a:p>
        </p:txBody>
      </p:sp>
      <p:sp>
        <p:nvSpPr>
          <p:cNvPr id="4" name="Shape 2"/>
          <p:cNvSpPr/>
          <p:nvPr/>
        </p:nvSpPr>
        <p:spPr>
          <a:xfrm>
            <a:off x="640080" y="1920240"/>
            <a:ext cx="5486400" cy="4023360"/>
          </a:xfrm>
          <a:prstGeom prst="roundRect">
            <a:avLst>
              <a:gd name="adj" fmla="val 1818"/>
            </a:avLst>
          </a:prstGeom>
          <a:solidFill>
            <a:srgbClr val="161B22"/>
          </a:solidFill>
          <a:ln w="12700">
            <a:solidFill>
              <a:srgbClr val="21262D"/>
            </a:solidFill>
            <a:prstDash val="solid"/>
          </a:ln>
        </p:spPr>
        <p:txBody>
          <a:bodyPr/>
          <a:lstStyle/>
          <a:p>
            <a:endParaRPr lang="en-US"/>
          </a:p>
        </p:txBody>
      </p:sp>
      <p:sp>
        <p:nvSpPr>
          <p:cNvPr id="5" name="Text 3"/>
          <p:cNvSpPr/>
          <p:nvPr/>
        </p:nvSpPr>
        <p:spPr>
          <a:xfrm>
            <a:off x="868680" y="2103120"/>
            <a:ext cx="5029200" cy="274320"/>
          </a:xfrm>
          <a:prstGeom prst="rect">
            <a:avLst/>
          </a:prstGeom>
          <a:noFill/>
          <a:ln/>
        </p:spPr>
        <p:txBody>
          <a:bodyPr wrap="square" lIns="0" tIns="0" rIns="0" bIns="0" rtlCol="0" anchor="ctr"/>
          <a:lstStyle/>
          <a:p>
            <a:pPr marL="0" indent="0" algn="l">
              <a:buNone/>
            </a:pPr>
            <a:r>
              <a:rPr lang="en-US" sz="1000" kern="0" spc="100" dirty="0">
                <a:solidFill>
                  <a:srgbClr val="6E7681"/>
                </a:solidFill>
                <a:latin typeface="Consolas" pitchFamily="34" charset="0"/>
                <a:ea typeface="Consolas" pitchFamily="34" charset="-122"/>
                <a:cs typeface="Consolas" pitchFamily="34" charset="-120"/>
              </a:rPr>
              <a:t>SOURCE NARRATIVE</a:t>
            </a:r>
            <a:endParaRPr lang="en-US" sz="1000" dirty="0"/>
          </a:p>
        </p:txBody>
      </p:sp>
      <p:sp>
        <p:nvSpPr>
          <p:cNvPr id="6" name="Text 4"/>
          <p:cNvSpPr/>
          <p:nvPr/>
        </p:nvSpPr>
        <p:spPr>
          <a:xfrm>
            <a:off x="868680" y="2468880"/>
            <a:ext cx="5029200" cy="3291840"/>
          </a:xfrm>
          <a:prstGeom prst="rect">
            <a:avLst/>
          </a:prstGeom>
          <a:noFill/>
          <a:ln/>
        </p:spPr>
        <p:txBody>
          <a:bodyPr wrap="square" lIns="0" tIns="0" rIns="0" bIns="0" rtlCol="0" anchor="t"/>
          <a:lstStyle/>
          <a:p>
            <a:pPr marL="0" indent="0" algn="l">
              <a:lnSpc>
                <a:spcPct val="150000"/>
              </a:lnSpc>
              <a:buNone/>
            </a:pPr>
            <a:r>
              <a:rPr lang="en-US" sz="1300" dirty="0">
                <a:solidFill>
                  <a:srgbClr val="6E7681"/>
                </a:solidFill>
                <a:latin typeface="Consolas" pitchFamily="34" charset="0"/>
                <a:ea typeface="Consolas" pitchFamily="34" charset="-122"/>
                <a:cs typeface="Consolas" pitchFamily="34" charset="-120"/>
              </a:rPr>
              <a:t>Report </a:t>
            </a:r>
            <a:r>
              <a:rPr lang="en-US" sz="1300" b="1" dirty="0">
                <a:solidFill>
                  <a:srgbClr val="E3B341"/>
                </a:solidFill>
                <a:latin typeface="Consolas" pitchFamily="34" charset="0"/>
                <a:ea typeface="Consolas" pitchFamily="34" charset="-122"/>
                <a:cs typeface="Consolas" pitchFamily="34" charset="-120"/>
              </a:rPr>
              <a:t>CPT code 95907</a:t>
            </a:r>
            <a:r>
              <a:rPr lang="en-US" sz="1300" dirty="0">
                <a:solidFill>
                  <a:srgbClr val="6E7681"/>
                </a:solidFill>
                <a:latin typeface="Consolas" pitchFamily="34" charset="0"/>
                <a:ea typeface="Consolas" pitchFamily="34" charset="-122"/>
                <a:cs typeface="Consolas" pitchFamily="34" charset="-120"/>
              </a:rPr>
              <a:t> (nerve conduction studies) for evaluation of carpal tunnel syndrome. Diagnosis codes </a:t>
            </a:r>
            <a:r>
              <a:rPr lang="en-US" sz="1300" b="1" dirty="0">
                <a:solidFill>
                  <a:srgbClr val="E3B341"/>
                </a:solidFill>
                <a:latin typeface="Consolas" pitchFamily="34" charset="0"/>
                <a:ea typeface="Consolas" pitchFamily="34" charset="-122"/>
                <a:cs typeface="Consolas" pitchFamily="34" charset="-120"/>
              </a:rPr>
              <a:t>G56.00, G56.01</a:t>
            </a:r>
            <a:r>
              <a:rPr lang="en-US" sz="1300" dirty="0">
                <a:solidFill>
                  <a:srgbClr val="6E7681"/>
                </a:solidFill>
                <a:latin typeface="Consolas" pitchFamily="34" charset="0"/>
                <a:ea typeface="Consolas" pitchFamily="34" charset="-122"/>
                <a:cs typeface="Consolas" pitchFamily="34" charset="-120"/>
              </a:rPr>
              <a:t> support medical necessity. A maximum of </a:t>
            </a:r>
            <a:r>
              <a:rPr lang="en-US" sz="1300" b="1" dirty="0">
                <a:solidFill>
                  <a:srgbClr val="E3B341"/>
                </a:solidFill>
                <a:latin typeface="Consolas" pitchFamily="34" charset="0"/>
                <a:ea typeface="Consolas" pitchFamily="34" charset="-122"/>
                <a:cs typeface="Consolas" pitchFamily="34" charset="-120"/>
              </a:rPr>
              <a:t>two studies</a:t>
            </a:r>
            <a:r>
              <a:rPr lang="en-US" sz="1300" dirty="0">
                <a:solidFill>
                  <a:srgbClr val="6E7681"/>
                </a:solidFill>
                <a:latin typeface="Consolas" pitchFamily="34" charset="0"/>
                <a:ea typeface="Consolas" pitchFamily="34" charset="-122"/>
                <a:cs typeface="Consolas" pitchFamily="34" charset="-120"/>
              </a:rPr>
              <a:t> per date of service is allowed.</a:t>
            </a:r>
            <a:endParaRPr lang="en-US" sz="1300" dirty="0"/>
          </a:p>
        </p:txBody>
      </p:sp>
      <p:sp>
        <p:nvSpPr>
          <p:cNvPr id="7" name="Shape 5"/>
          <p:cNvSpPr/>
          <p:nvPr/>
        </p:nvSpPr>
        <p:spPr>
          <a:xfrm>
            <a:off x="6355080" y="1920240"/>
            <a:ext cx="5166360" cy="4023360"/>
          </a:xfrm>
          <a:prstGeom prst="roundRect">
            <a:avLst>
              <a:gd name="adj" fmla="val 1818"/>
            </a:avLst>
          </a:prstGeom>
          <a:solidFill>
            <a:srgbClr val="161B22"/>
          </a:solidFill>
          <a:ln w="12700">
            <a:solidFill>
              <a:srgbClr val="21262D"/>
            </a:solidFill>
            <a:prstDash val="solid"/>
          </a:ln>
        </p:spPr>
        <p:txBody>
          <a:bodyPr/>
          <a:lstStyle/>
          <a:p>
            <a:endParaRPr lang="en-US"/>
          </a:p>
        </p:txBody>
      </p:sp>
      <p:sp>
        <p:nvSpPr>
          <p:cNvPr id="8" name="Text 6"/>
          <p:cNvSpPr/>
          <p:nvPr/>
        </p:nvSpPr>
        <p:spPr>
          <a:xfrm>
            <a:off x="6583680" y="2103120"/>
            <a:ext cx="4572000" cy="274320"/>
          </a:xfrm>
          <a:prstGeom prst="rect">
            <a:avLst/>
          </a:prstGeom>
          <a:noFill/>
          <a:ln/>
        </p:spPr>
        <p:txBody>
          <a:bodyPr wrap="square" lIns="0" tIns="0" rIns="0" bIns="0" rtlCol="0" anchor="ctr"/>
          <a:lstStyle/>
          <a:p>
            <a:pPr marL="0" indent="0" algn="l">
              <a:buNone/>
            </a:pPr>
            <a:r>
              <a:rPr lang="en-US" sz="1000" kern="0" spc="100" dirty="0">
                <a:solidFill>
                  <a:srgbClr val="6E7681"/>
                </a:solidFill>
                <a:latin typeface="Consolas" pitchFamily="34" charset="0"/>
                <a:ea typeface="Consolas" pitchFamily="34" charset="-122"/>
                <a:cs typeface="Consolas" pitchFamily="34" charset="-120"/>
              </a:rPr>
              <a:t>EXTRACTED RULESPEC</a:t>
            </a:r>
            <a:endParaRPr lang="en-US" sz="1000" dirty="0"/>
          </a:p>
        </p:txBody>
      </p:sp>
      <p:sp>
        <p:nvSpPr>
          <p:cNvPr id="9" name="Text 7"/>
          <p:cNvSpPr/>
          <p:nvPr/>
        </p:nvSpPr>
        <p:spPr>
          <a:xfrm>
            <a:off x="6583680" y="2468880"/>
            <a:ext cx="4754880" cy="3291840"/>
          </a:xfrm>
          <a:prstGeom prst="rect">
            <a:avLst/>
          </a:prstGeom>
          <a:noFill/>
          <a:ln/>
        </p:spPr>
        <p:txBody>
          <a:bodyPr wrap="square" lIns="0" tIns="0" rIns="0" bIns="0" rtlCol="0" anchor="t"/>
          <a:lstStyle/>
          <a:p>
            <a:pPr marL="0" indent="0" algn="l">
              <a:lnSpc>
                <a:spcPct val="125000"/>
              </a:lnSpc>
              <a:buNone/>
            </a:pPr>
            <a:r>
              <a:rPr lang="en-US" sz="1250" dirty="0">
                <a:solidFill>
                  <a:srgbClr val="C9D1D9"/>
                </a:solidFill>
                <a:latin typeface="Consolas" pitchFamily="34" charset="0"/>
                <a:ea typeface="Consolas" pitchFamily="34" charset="-122"/>
                <a:cs typeface="Consolas" pitchFamily="34" charset="-120"/>
              </a:rPr>
              <a:t>{</a:t>
            </a:r>
            <a:endParaRPr lang="en-US" sz="1250" dirty="0"/>
          </a:p>
          <a:p>
            <a:pPr marL="0" indent="0" algn="l">
              <a:lnSpc>
                <a:spcPct val="125000"/>
              </a:lnSpc>
              <a:buNone/>
            </a:pPr>
            <a:r>
              <a:rPr lang="en-US" sz="1250" dirty="0">
                <a:solidFill>
                  <a:srgbClr val="C9D1D9"/>
                </a:solidFill>
                <a:latin typeface="Consolas" pitchFamily="34" charset="0"/>
                <a:ea typeface="Consolas" pitchFamily="34" charset="-122"/>
                <a:cs typeface="Consolas" pitchFamily="34" charset="-120"/>
              </a:rPr>
              <a:t>  "rule_type": "diagnosis_coverage",</a:t>
            </a:r>
            <a:endParaRPr lang="en-US" sz="1250" dirty="0"/>
          </a:p>
          <a:p>
            <a:pPr marL="0" indent="0" algn="l">
              <a:lnSpc>
                <a:spcPct val="125000"/>
              </a:lnSpc>
              <a:buNone/>
            </a:pPr>
            <a:r>
              <a:rPr lang="en-US" sz="1250" dirty="0">
                <a:solidFill>
                  <a:srgbClr val="C9D1D9"/>
                </a:solidFill>
                <a:latin typeface="Consolas" pitchFamily="34" charset="0"/>
                <a:ea typeface="Consolas" pitchFamily="34" charset="-122"/>
                <a:cs typeface="Consolas" pitchFamily="34" charset="-120"/>
              </a:rPr>
              <a:t>  "trigger_codes": ["95907"],</a:t>
            </a:r>
            <a:endParaRPr lang="en-US" sz="1250" dirty="0"/>
          </a:p>
          <a:p>
            <a:pPr marL="0" indent="0" algn="l">
              <a:lnSpc>
                <a:spcPct val="125000"/>
              </a:lnSpc>
              <a:buNone/>
            </a:pPr>
            <a:r>
              <a:rPr lang="en-US" sz="1250" dirty="0">
                <a:solidFill>
                  <a:srgbClr val="C9D1D9"/>
                </a:solidFill>
                <a:latin typeface="Consolas" pitchFamily="34" charset="0"/>
                <a:ea typeface="Consolas" pitchFamily="34" charset="-122"/>
                <a:cs typeface="Consolas" pitchFamily="34" charset="-120"/>
              </a:rPr>
              <a:t>  "covered_icd10": ["G56.00","G56.01"],</a:t>
            </a:r>
            <a:endParaRPr lang="en-US" sz="1250" dirty="0"/>
          </a:p>
          <a:p>
            <a:pPr marL="0" indent="0" algn="l">
              <a:lnSpc>
                <a:spcPct val="125000"/>
              </a:lnSpc>
              <a:buNone/>
            </a:pPr>
            <a:r>
              <a:rPr lang="en-US" sz="1250" dirty="0">
                <a:solidFill>
                  <a:srgbClr val="C9D1D9"/>
                </a:solidFill>
                <a:latin typeface="Consolas" pitchFamily="34" charset="0"/>
                <a:ea typeface="Consolas" pitchFamily="34" charset="-122"/>
                <a:cs typeface="Consolas" pitchFamily="34" charset="-120"/>
              </a:rPr>
              <a:t>  "max_units": 2,</a:t>
            </a:r>
            <a:endParaRPr lang="en-US" sz="1250" dirty="0"/>
          </a:p>
          <a:p>
            <a:pPr marL="0" indent="0" algn="l">
              <a:lnSpc>
                <a:spcPct val="125000"/>
              </a:lnSpc>
              <a:buNone/>
            </a:pPr>
            <a:r>
              <a:rPr lang="en-US" sz="1250" dirty="0">
                <a:solidFill>
                  <a:srgbClr val="C9D1D9"/>
                </a:solidFill>
                <a:latin typeface="Consolas" pitchFamily="34" charset="0"/>
                <a:ea typeface="Consolas" pitchFamily="34" charset="-122"/>
                <a:cs typeface="Consolas" pitchFamily="34" charset="-120"/>
              </a:rPr>
              <a:t>  "quoted_span": "Report CPT code 95907</a:t>
            </a:r>
            <a:endParaRPr lang="en-US" sz="1250" dirty="0"/>
          </a:p>
          <a:p>
            <a:pPr marL="0" indent="0" algn="l">
              <a:lnSpc>
                <a:spcPct val="125000"/>
              </a:lnSpc>
              <a:buNone/>
            </a:pPr>
            <a:r>
              <a:rPr lang="en-US" sz="1250" dirty="0">
                <a:solidFill>
                  <a:srgbClr val="C9D1D9"/>
                </a:solidFill>
                <a:latin typeface="Consolas" pitchFamily="34" charset="0"/>
                <a:ea typeface="Consolas" pitchFamily="34" charset="-122"/>
                <a:cs typeface="Consolas" pitchFamily="34" charset="-120"/>
              </a:rPr>
              <a:t>     ... for carpal tunnel syndrome",</a:t>
            </a:r>
            <a:endParaRPr lang="en-US" sz="1250" dirty="0"/>
          </a:p>
          <a:p>
            <a:pPr marL="0" indent="0" algn="l">
              <a:lnSpc>
                <a:spcPct val="125000"/>
              </a:lnSpc>
              <a:buNone/>
            </a:pPr>
            <a:r>
              <a:rPr lang="en-US" sz="1250" dirty="0">
                <a:solidFill>
                  <a:srgbClr val="C9D1D9"/>
                </a:solidFill>
                <a:latin typeface="Consolas" pitchFamily="34" charset="0"/>
                <a:ea typeface="Consolas" pitchFamily="34" charset="-122"/>
                <a:cs typeface="Consolas" pitchFamily="34" charset="-120"/>
              </a:rPr>
              <a:t>  "confidence": 0.95</a:t>
            </a:r>
            <a:endParaRPr lang="en-US" sz="1250" dirty="0"/>
          </a:p>
          <a:p>
            <a:pPr marL="0" indent="0" algn="l">
              <a:lnSpc>
                <a:spcPct val="125000"/>
              </a:lnSpc>
              <a:buNone/>
            </a:pPr>
            <a:r>
              <a:rPr lang="en-US" sz="1250" dirty="0">
                <a:solidFill>
                  <a:srgbClr val="C9D1D9"/>
                </a:solidFill>
                <a:latin typeface="Consolas" pitchFamily="34" charset="0"/>
                <a:ea typeface="Consolas" pitchFamily="34" charset="-122"/>
                <a:cs typeface="Consolas" pitchFamily="34" charset="-120"/>
              </a:rPr>
              <a:t>}</a:t>
            </a:r>
            <a:endParaRPr lang="en-US" sz="1250" dirty="0"/>
          </a:p>
        </p:txBody>
      </p:sp>
      <p:sp>
        <p:nvSpPr>
          <p:cNvPr id="10" name="Text 8"/>
          <p:cNvSpPr/>
          <p:nvPr/>
        </p:nvSpPr>
        <p:spPr>
          <a:xfrm>
            <a:off x="640080" y="6080760"/>
            <a:ext cx="10881360" cy="548640"/>
          </a:xfrm>
          <a:prstGeom prst="rect">
            <a:avLst/>
          </a:prstGeom>
          <a:noFill/>
          <a:ln/>
        </p:spPr>
        <p:txBody>
          <a:bodyPr wrap="square" rtlCol="0" anchor="ctr"/>
          <a:lstStyle/>
          <a:p>
            <a:pPr marL="0" indent="0" algn="l">
              <a:buNone/>
            </a:pPr>
            <a:r>
              <a:rPr lang="en-US" sz="1350" b="1" dirty="0">
                <a:solidFill>
                  <a:srgbClr val="E3B341"/>
                </a:solidFill>
                <a:latin typeface="Calibri" pitchFamily="34" charset="0"/>
                <a:ea typeface="Calibri" pitchFamily="34" charset="-122"/>
                <a:cs typeface="Calibri" pitchFamily="34" charset="-120"/>
              </a:rPr>
              <a:t>The hallucination gate.  </a:t>
            </a:r>
            <a:r>
              <a:rPr lang="en-US" sz="1350" dirty="0">
                <a:solidFill>
                  <a:srgbClr val="C9D1D9"/>
                </a:solidFill>
                <a:latin typeface="Calibri" pitchFamily="34" charset="0"/>
                <a:ea typeface="Calibri" pitchFamily="34" charset="-122"/>
                <a:cs typeface="Calibri" pitchFamily="34" charset="-120"/>
              </a:rPr>
              <a:t>quoted_span must appear verbatim in the source. If it can't be found, the rule is rejected — making the hallucination rate measurable with zero human annotation.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EVALUATION — METHODOLOGY</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What exactly is being measured</a:t>
            </a:r>
            <a:endParaRPr lang="en-US" sz="3200" dirty="0"/>
          </a:p>
        </p:txBody>
      </p:sp>
      <p:sp>
        <p:nvSpPr>
          <p:cNvPr id="4" name="Shape 2"/>
          <p:cNvSpPr/>
          <p:nvPr/>
        </p:nvSpPr>
        <p:spPr>
          <a:xfrm>
            <a:off x="640080" y="1874520"/>
            <a:ext cx="5486400" cy="2148840"/>
          </a:xfrm>
          <a:prstGeom prst="roundRect">
            <a:avLst>
              <a:gd name="adj" fmla="val 3404"/>
            </a:avLst>
          </a:prstGeom>
          <a:solidFill>
            <a:srgbClr val="161B22"/>
          </a:solidFill>
          <a:ln w="12700">
            <a:solidFill>
              <a:srgbClr val="21262D"/>
            </a:solidFill>
            <a:prstDash val="solid"/>
          </a:ln>
        </p:spPr>
        <p:txBody>
          <a:bodyPr/>
          <a:lstStyle/>
          <a:p>
            <a:endParaRPr lang="en-US"/>
          </a:p>
        </p:txBody>
      </p:sp>
      <p:sp>
        <p:nvSpPr>
          <p:cNvPr id="5" name="Text 3"/>
          <p:cNvSpPr/>
          <p:nvPr/>
        </p:nvSpPr>
        <p:spPr>
          <a:xfrm>
            <a:off x="896112" y="2057400"/>
            <a:ext cx="4937760" cy="274320"/>
          </a:xfrm>
          <a:prstGeom prst="rect">
            <a:avLst/>
          </a:prstGeom>
          <a:noFill/>
          <a:ln/>
        </p:spPr>
        <p:txBody>
          <a:bodyPr wrap="square" lIns="0" tIns="0" rIns="0" bIns="0" rtlCol="0" anchor="ctr"/>
          <a:lstStyle/>
          <a:p>
            <a:pPr marL="0" indent="0" algn="l">
              <a:buNone/>
            </a:pPr>
            <a:r>
              <a:rPr lang="en-US" sz="1000" kern="0" spc="100" dirty="0">
                <a:solidFill>
                  <a:srgbClr val="6E7681"/>
                </a:solidFill>
                <a:latin typeface="Consolas" pitchFamily="34" charset="0"/>
                <a:ea typeface="Consolas" pitchFamily="34" charset="-122"/>
                <a:cs typeface="Consolas" pitchFamily="34" charset="-120"/>
              </a:rPr>
              <a:t>EXTRACTION QUALITY</a:t>
            </a:r>
            <a:endParaRPr lang="en-US" sz="1000" dirty="0"/>
          </a:p>
        </p:txBody>
      </p:sp>
      <p:sp>
        <p:nvSpPr>
          <p:cNvPr id="6" name="Text 4"/>
          <p:cNvSpPr/>
          <p:nvPr/>
        </p:nvSpPr>
        <p:spPr>
          <a:xfrm>
            <a:off x="896112" y="2359152"/>
            <a:ext cx="4983480" cy="457200"/>
          </a:xfrm>
          <a:prstGeom prst="rect">
            <a:avLst/>
          </a:prstGeom>
          <a:noFill/>
          <a:ln/>
        </p:spPr>
        <p:txBody>
          <a:bodyPr wrap="square" lIns="0" tIns="0" rIns="0" bIns="0" rtlCol="0" anchor="ctr"/>
          <a:lstStyle/>
          <a:p>
            <a:pPr marL="0" indent="0" algn="l">
              <a:lnSpc>
                <a:spcPct val="115000"/>
              </a:lnSpc>
              <a:buNone/>
            </a:pPr>
            <a:r>
              <a:rPr lang="en-US" sz="1150" dirty="0">
                <a:solidFill>
                  <a:srgbClr val="C9D1D9"/>
                </a:solidFill>
                <a:latin typeface="Calibri" pitchFamily="34" charset="0"/>
                <a:ea typeface="Calibri" pitchFamily="34" charset="-122"/>
                <a:cs typeface="Calibri" pitchFamily="34" charset="-120"/>
              </a:rPr>
              <a:t>Let P be the code set the model emits for an article and G the official CMS code table for that article.</a:t>
            </a:r>
            <a:endParaRPr lang="en-US" sz="1150" dirty="0"/>
          </a:p>
        </p:txBody>
      </p:sp>
      <p:sp>
        <p:nvSpPr>
          <p:cNvPr id="7" name="Text 5"/>
          <p:cNvSpPr/>
          <p:nvPr/>
        </p:nvSpPr>
        <p:spPr>
          <a:xfrm>
            <a:off x="896112" y="2852928"/>
            <a:ext cx="2468880" cy="274320"/>
          </a:xfrm>
          <a:prstGeom prst="rect">
            <a:avLst/>
          </a:prstGeom>
          <a:noFill/>
          <a:ln/>
        </p:spPr>
        <p:txBody>
          <a:bodyPr wrap="square" lIns="0" tIns="0" rIns="0" bIns="0" rtlCol="0" anchor="ctr"/>
          <a:lstStyle/>
          <a:p>
            <a:pPr marL="0" indent="0" algn="l">
              <a:buNone/>
            </a:pPr>
            <a:r>
              <a:rPr lang="en-US" sz="1200" dirty="0">
                <a:solidFill>
                  <a:srgbClr val="F0F6FC"/>
                </a:solidFill>
                <a:latin typeface="Consolas" pitchFamily="34" charset="0"/>
                <a:ea typeface="Consolas" pitchFamily="34" charset="-122"/>
                <a:cs typeface="Consolas" pitchFamily="34" charset="-120"/>
              </a:rPr>
              <a:t>Precision = |P ∩ G| / |P|</a:t>
            </a:r>
            <a:endParaRPr lang="en-US" sz="1200" dirty="0"/>
          </a:p>
        </p:txBody>
      </p:sp>
      <p:sp>
        <p:nvSpPr>
          <p:cNvPr id="8" name="Text 6"/>
          <p:cNvSpPr/>
          <p:nvPr/>
        </p:nvSpPr>
        <p:spPr>
          <a:xfrm>
            <a:off x="3474720" y="2852928"/>
            <a:ext cx="2377440" cy="274320"/>
          </a:xfrm>
          <a:prstGeom prst="rect">
            <a:avLst/>
          </a:prstGeom>
          <a:noFill/>
          <a:ln/>
        </p:spPr>
        <p:txBody>
          <a:bodyPr wrap="square" lIns="0" tIns="0" rIns="0" bIns="0" rtlCol="0" anchor="ctr"/>
          <a:lstStyle/>
          <a:p>
            <a:pPr marL="0" indent="0" algn="l">
              <a:buNone/>
            </a:pPr>
            <a:r>
              <a:rPr lang="en-US" sz="1200" dirty="0">
                <a:solidFill>
                  <a:srgbClr val="F0F6FC"/>
                </a:solidFill>
                <a:latin typeface="Consolas" pitchFamily="34" charset="0"/>
                <a:ea typeface="Consolas" pitchFamily="34" charset="-122"/>
                <a:cs typeface="Consolas" pitchFamily="34" charset="-120"/>
              </a:rPr>
              <a:t>Recall = |P ∩ G| / |G|</a:t>
            </a:r>
            <a:endParaRPr lang="en-US" sz="1200" dirty="0"/>
          </a:p>
        </p:txBody>
      </p:sp>
      <p:sp>
        <p:nvSpPr>
          <p:cNvPr id="9" name="Text 7"/>
          <p:cNvSpPr/>
          <p:nvPr/>
        </p:nvSpPr>
        <p:spPr>
          <a:xfrm>
            <a:off x="896112" y="3200400"/>
            <a:ext cx="4983480" cy="274320"/>
          </a:xfrm>
          <a:prstGeom prst="rect">
            <a:avLst/>
          </a:prstGeom>
          <a:noFill/>
          <a:ln/>
        </p:spPr>
        <p:txBody>
          <a:bodyPr wrap="square" lIns="0" tIns="0" rIns="0" bIns="0" rtlCol="0" anchor="ctr"/>
          <a:lstStyle/>
          <a:p>
            <a:pPr marL="0" indent="0" algn="l">
              <a:buNone/>
            </a:pPr>
            <a:r>
              <a:rPr lang="en-US" sz="1200" dirty="0">
                <a:solidFill>
                  <a:srgbClr val="E3B341"/>
                </a:solidFill>
                <a:latin typeface="Consolas" pitchFamily="34" charset="0"/>
                <a:ea typeface="Consolas" pitchFamily="34" charset="-122"/>
                <a:cs typeface="Consolas" pitchFamily="34" charset="-120"/>
              </a:rPr>
              <a:t>F₁ = 2 · Precision · Recall / (Precision + Recall)</a:t>
            </a:r>
            <a:endParaRPr lang="en-US" sz="1200" dirty="0"/>
          </a:p>
        </p:txBody>
      </p:sp>
      <p:sp>
        <p:nvSpPr>
          <p:cNvPr id="10" name="Text 8"/>
          <p:cNvSpPr/>
          <p:nvPr/>
        </p:nvSpPr>
        <p:spPr>
          <a:xfrm>
            <a:off x="896112" y="3584448"/>
            <a:ext cx="4983480" cy="320040"/>
          </a:xfrm>
          <a:prstGeom prst="rect">
            <a:avLst/>
          </a:prstGeom>
          <a:noFill/>
          <a:ln/>
        </p:spPr>
        <p:txBody>
          <a:bodyPr wrap="square" lIns="0" tIns="0" rIns="0" bIns="0" rtlCol="0" anchor="ctr"/>
          <a:lstStyle/>
          <a:p>
            <a:pPr marL="0" indent="0" algn="l">
              <a:buNone/>
            </a:pPr>
            <a:r>
              <a:rPr lang="en-US" sz="1050" i="1" dirty="0">
                <a:solidFill>
                  <a:srgbClr val="6E7681"/>
                </a:solidFill>
                <a:latin typeface="Calibri" pitchFamily="34" charset="0"/>
                <a:ea typeface="Calibri" pitchFamily="34" charset="-122"/>
                <a:cs typeface="Calibri" pitchFamily="34" charset="-120"/>
              </a:rPr>
              <a:t>G is external ground truth — published by CMS, not labelled by me.</a:t>
            </a:r>
            <a:endParaRPr lang="en-US" sz="1050" dirty="0"/>
          </a:p>
        </p:txBody>
      </p:sp>
      <p:sp>
        <p:nvSpPr>
          <p:cNvPr id="11" name="Shape 9"/>
          <p:cNvSpPr/>
          <p:nvPr/>
        </p:nvSpPr>
        <p:spPr>
          <a:xfrm>
            <a:off x="6537960" y="1874520"/>
            <a:ext cx="4983480" cy="2148840"/>
          </a:xfrm>
          <a:prstGeom prst="roundRect">
            <a:avLst>
              <a:gd name="adj" fmla="val 3404"/>
            </a:avLst>
          </a:prstGeom>
          <a:solidFill>
            <a:srgbClr val="161B22"/>
          </a:solidFill>
          <a:ln w="12700">
            <a:solidFill>
              <a:srgbClr val="21262D"/>
            </a:solidFill>
            <a:prstDash val="solid"/>
          </a:ln>
        </p:spPr>
        <p:txBody>
          <a:bodyPr/>
          <a:lstStyle/>
          <a:p>
            <a:endParaRPr lang="en-US"/>
          </a:p>
        </p:txBody>
      </p:sp>
      <p:sp>
        <p:nvSpPr>
          <p:cNvPr id="12" name="Text 10"/>
          <p:cNvSpPr/>
          <p:nvPr/>
        </p:nvSpPr>
        <p:spPr>
          <a:xfrm>
            <a:off x="6793992" y="2057400"/>
            <a:ext cx="4572000" cy="274320"/>
          </a:xfrm>
          <a:prstGeom prst="rect">
            <a:avLst/>
          </a:prstGeom>
          <a:noFill/>
          <a:ln/>
        </p:spPr>
        <p:txBody>
          <a:bodyPr wrap="square" lIns="0" tIns="0" rIns="0" bIns="0" rtlCol="0" anchor="ctr"/>
          <a:lstStyle/>
          <a:p>
            <a:pPr marL="0" indent="0" algn="l">
              <a:buNone/>
            </a:pPr>
            <a:r>
              <a:rPr lang="en-US" sz="1000" kern="0" spc="100" dirty="0">
                <a:solidFill>
                  <a:srgbClr val="6E7681"/>
                </a:solidFill>
                <a:latin typeface="Consolas" pitchFamily="34" charset="0"/>
                <a:ea typeface="Consolas" pitchFamily="34" charset="-122"/>
                <a:cs typeface="Consolas" pitchFamily="34" charset="-120"/>
              </a:rPr>
              <a:t>HALLUCINATION RATE</a:t>
            </a:r>
            <a:endParaRPr lang="en-US" sz="1000" dirty="0"/>
          </a:p>
        </p:txBody>
      </p:sp>
      <p:sp>
        <p:nvSpPr>
          <p:cNvPr id="13" name="Text 11"/>
          <p:cNvSpPr/>
          <p:nvPr/>
        </p:nvSpPr>
        <p:spPr>
          <a:xfrm>
            <a:off x="6793992" y="2359152"/>
            <a:ext cx="4480560" cy="320040"/>
          </a:xfrm>
          <a:prstGeom prst="rect">
            <a:avLst/>
          </a:prstGeom>
          <a:noFill/>
          <a:ln/>
        </p:spPr>
        <p:txBody>
          <a:bodyPr wrap="square" lIns="0" tIns="0" rIns="0" bIns="0" rtlCol="0" anchor="ctr"/>
          <a:lstStyle/>
          <a:p>
            <a:pPr marL="0" indent="0" algn="l">
              <a:buNone/>
            </a:pPr>
            <a:r>
              <a:rPr lang="en-US" sz="1150" dirty="0">
                <a:solidFill>
                  <a:srgbClr val="C9D1D9"/>
                </a:solidFill>
                <a:latin typeface="Calibri" pitchFamily="34" charset="0"/>
                <a:ea typeface="Calibri" pitchFamily="34" charset="-122"/>
                <a:cs typeface="Calibri" pitchFamily="34" charset="-120"/>
              </a:rPr>
              <a:t>For rule r with quoted span s(r) and source document D:</a:t>
            </a:r>
            <a:endParaRPr lang="en-US" sz="1150" dirty="0"/>
          </a:p>
        </p:txBody>
      </p:sp>
      <p:sp>
        <p:nvSpPr>
          <p:cNvPr id="14" name="Text 12"/>
          <p:cNvSpPr/>
          <p:nvPr/>
        </p:nvSpPr>
        <p:spPr>
          <a:xfrm>
            <a:off x="6793992" y="2743200"/>
            <a:ext cx="4480560" cy="320040"/>
          </a:xfrm>
          <a:prstGeom prst="rect">
            <a:avLst/>
          </a:prstGeom>
          <a:noFill/>
          <a:ln/>
        </p:spPr>
        <p:txBody>
          <a:bodyPr wrap="square" lIns="0" tIns="0" rIns="0" bIns="0" rtlCol="0" anchor="ctr"/>
          <a:lstStyle/>
          <a:p>
            <a:pPr marL="0" indent="0" algn="l">
              <a:buNone/>
            </a:pPr>
            <a:r>
              <a:rPr lang="en-US" sz="1400" b="1" dirty="0">
                <a:solidFill>
                  <a:srgbClr val="F85149"/>
                </a:solidFill>
                <a:latin typeface="Consolas" pitchFamily="34" charset="0"/>
                <a:ea typeface="Consolas" pitchFamily="34" charset="-122"/>
                <a:cs typeface="Consolas" pitchFamily="34" charset="-120"/>
              </a:rPr>
              <a:t>H = |{ r : s(r) ⊄ D }| / |R|</a:t>
            </a:r>
            <a:endParaRPr lang="en-US" sz="1400" dirty="0"/>
          </a:p>
        </p:txBody>
      </p:sp>
      <p:sp>
        <p:nvSpPr>
          <p:cNvPr id="15" name="Text 13"/>
          <p:cNvSpPr/>
          <p:nvPr/>
        </p:nvSpPr>
        <p:spPr>
          <a:xfrm>
            <a:off x="6793992" y="3154680"/>
            <a:ext cx="4480560" cy="731520"/>
          </a:xfrm>
          <a:prstGeom prst="rect">
            <a:avLst/>
          </a:prstGeom>
          <a:noFill/>
          <a:ln/>
        </p:spPr>
        <p:txBody>
          <a:bodyPr wrap="square" lIns="0" tIns="0" rIns="0" bIns="0" rtlCol="0" anchor="ctr"/>
          <a:lstStyle/>
          <a:p>
            <a:pPr marL="0" indent="0" algn="l">
              <a:lnSpc>
                <a:spcPct val="120000"/>
              </a:lnSpc>
              <a:buNone/>
            </a:pPr>
            <a:r>
              <a:rPr lang="en-US" sz="1100" dirty="0">
                <a:solidFill>
                  <a:srgbClr val="6E7681"/>
                </a:solidFill>
                <a:latin typeface="Calibri" pitchFamily="34" charset="0"/>
                <a:ea typeface="Calibri" pitchFamily="34" charset="-122"/>
                <a:cs typeface="Calibri" pitchFamily="34" charset="-120"/>
              </a:rPr>
              <a:t>Substring containment is decidable, so H is computed automatically — no human annotation, no judge model.</a:t>
            </a:r>
            <a:endParaRPr lang="en-US" sz="1100" dirty="0"/>
          </a:p>
        </p:txBody>
      </p:sp>
      <p:sp>
        <p:nvSpPr>
          <p:cNvPr id="16" name="Shape 14"/>
          <p:cNvSpPr/>
          <p:nvPr/>
        </p:nvSpPr>
        <p:spPr>
          <a:xfrm>
            <a:off x="640080" y="4206240"/>
            <a:ext cx="5486400" cy="1920240"/>
          </a:xfrm>
          <a:prstGeom prst="roundRect">
            <a:avLst>
              <a:gd name="adj" fmla="val 3810"/>
            </a:avLst>
          </a:prstGeom>
          <a:solidFill>
            <a:srgbClr val="161B22"/>
          </a:solidFill>
          <a:ln w="12700">
            <a:solidFill>
              <a:srgbClr val="21262D"/>
            </a:solidFill>
            <a:prstDash val="solid"/>
          </a:ln>
        </p:spPr>
        <p:txBody>
          <a:bodyPr/>
          <a:lstStyle/>
          <a:p>
            <a:endParaRPr lang="en-US"/>
          </a:p>
        </p:txBody>
      </p:sp>
      <p:sp>
        <p:nvSpPr>
          <p:cNvPr id="17" name="Text 15"/>
          <p:cNvSpPr/>
          <p:nvPr/>
        </p:nvSpPr>
        <p:spPr>
          <a:xfrm>
            <a:off x="896112" y="4389120"/>
            <a:ext cx="4937760" cy="274320"/>
          </a:xfrm>
          <a:prstGeom prst="rect">
            <a:avLst/>
          </a:prstGeom>
          <a:noFill/>
          <a:ln/>
        </p:spPr>
        <p:txBody>
          <a:bodyPr wrap="square" lIns="0" tIns="0" rIns="0" bIns="0" rtlCol="0" anchor="ctr"/>
          <a:lstStyle/>
          <a:p>
            <a:pPr marL="0" indent="0" algn="l">
              <a:buNone/>
            </a:pPr>
            <a:r>
              <a:rPr lang="en-US" sz="1000" kern="0" spc="100" dirty="0">
                <a:solidFill>
                  <a:srgbClr val="6E7681"/>
                </a:solidFill>
                <a:latin typeface="Consolas" pitchFamily="34" charset="0"/>
                <a:ea typeface="Consolas" pitchFamily="34" charset="-122"/>
                <a:cs typeface="Consolas" pitchFamily="34" charset="-120"/>
              </a:rPr>
              <a:t>STABILITY</a:t>
            </a:r>
            <a:endParaRPr lang="en-US" sz="1000" dirty="0"/>
          </a:p>
        </p:txBody>
      </p:sp>
      <p:sp>
        <p:nvSpPr>
          <p:cNvPr id="18" name="Text 16"/>
          <p:cNvSpPr/>
          <p:nvPr/>
        </p:nvSpPr>
        <p:spPr>
          <a:xfrm>
            <a:off x="896112" y="4681728"/>
            <a:ext cx="4983480" cy="320040"/>
          </a:xfrm>
          <a:prstGeom prst="rect">
            <a:avLst/>
          </a:prstGeom>
          <a:noFill/>
          <a:ln/>
        </p:spPr>
        <p:txBody>
          <a:bodyPr wrap="square" lIns="0" tIns="0" rIns="0" bIns="0" rtlCol="0" anchor="ctr"/>
          <a:lstStyle/>
          <a:p>
            <a:pPr marL="0" indent="0" algn="l">
              <a:buNone/>
            </a:pPr>
            <a:r>
              <a:rPr lang="en-US" sz="1150" dirty="0">
                <a:solidFill>
                  <a:srgbClr val="C9D1D9"/>
                </a:solidFill>
                <a:latin typeface="Calibri" pitchFamily="34" charset="0"/>
                <a:ea typeface="Calibri" pitchFamily="34" charset="-122"/>
                <a:cs typeface="Calibri" pitchFamily="34" charset="-120"/>
              </a:rPr>
              <a:t>Each level run n = 5 times at T = 0.7 with caching disabled:</a:t>
            </a:r>
            <a:endParaRPr lang="en-US" sz="1150" dirty="0"/>
          </a:p>
        </p:txBody>
      </p:sp>
      <p:sp>
        <p:nvSpPr>
          <p:cNvPr id="19" name="Text 17"/>
          <p:cNvSpPr/>
          <p:nvPr/>
        </p:nvSpPr>
        <p:spPr>
          <a:xfrm>
            <a:off x="896112" y="5047488"/>
            <a:ext cx="4983480" cy="320040"/>
          </a:xfrm>
          <a:prstGeom prst="rect">
            <a:avLst/>
          </a:prstGeom>
          <a:noFill/>
          <a:ln/>
        </p:spPr>
        <p:txBody>
          <a:bodyPr wrap="square" lIns="0" tIns="0" rIns="0" bIns="0" rtlCol="0" anchor="ctr"/>
          <a:lstStyle/>
          <a:p>
            <a:pPr marL="0" indent="0" algn="l">
              <a:buNone/>
            </a:pPr>
            <a:r>
              <a:rPr lang="en-US" sz="1350" dirty="0">
                <a:solidFill>
                  <a:srgbClr val="58A6FF"/>
                </a:solidFill>
                <a:latin typeface="Consolas" pitchFamily="34" charset="0"/>
                <a:ea typeface="Consolas" pitchFamily="34" charset="-122"/>
                <a:cs typeface="Consolas" pitchFamily="34" charset="-120"/>
              </a:rPr>
              <a:t>σ = √( Σ (F₁⁽ⁱ⁾ − F̄₁)² / n )</a:t>
            </a:r>
            <a:endParaRPr lang="en-US" sz="1350" dirty="0"/>
          </a:p>
        </p:txBody>
      </p:sp>
      <p:sp>
        <p:nvSpPr>
          <p:cNvPr id="20" name="Text 18"/>
          <p:cNvSpPr/>
          <p:nvPr/>
        </p:nvSpPr>
        <p:spPr>
          <a:xfrm>
            <a:off x="896112" y="5468112"/>
            <a:ext cx="4983480" cy="457200"/>
          </a:xfrm>
          <a:prstGeom prst="rect">
            <a:avLst/>
          </a:prstGeom>
          <a:noFill/>
          <a:ln/>
        </p:spPr>
        <p:txBody>
          <a:bodyPr wrap="square" lIns="0" tIns="0" rIns="0" bIns="0" rtlCol="0" anchor="ctr"/>
          <a:lstStyle/>
          <a:p>
            <a:pPr marL="0" indent="0" algn="l">
              <a:buNone/>
            </a:pPr>
            <a:r>
              <a:rPr lang="en-US" sz="1050" i="1" dirty="0">
                <a:solidFill>
                  <a:srgbClr val="6E7681"/>
                </a:solidFill>
                <a:latin typeface="Calibri" pitchFamily="34" charset="0"/>
                <a:ea typeface="Calibri" pitchFamily="34" charset="-122"/>
                <a:cs typeface="Calibri" pitchFamily="34" charset="-120"/>
              </a:rPr>
              <a:t>A point estimate without σ cannot distinguish signal from a lucky draw.</a:t>
            </a:r>
            <a:endParaRPr lang="en-US" sz="1050" dirty="0"/>
          </a:p>
        </p:txBody>
      </p:sp>
      <p:sp>
        <p:nvSpPr>
          <p:cNvPr id="21" name="Shape 19"/>
          <p:cNvSpPr/>
          <p:nvPr/>
        </p:nvSpPr>
        <p:spPr>
          <a:xfrm>
            <a:off x="6537960" y="4206240"/>
            <a:ext cx="4983480" cy="1920240"/>
          </a:xfrm>
          <a:prstGeom prst="roundRect">
            <a:avLst>
              <a:gd name="adj" fmla="val 3810"/>
            </a:avLst>
          </a:prstGeom>
          <a:solidFill>
            <a:srgbClr val="161B22"/>
          </a:solidFill>
          <a:ln w="12700">
            <a:solidFill>
              <a:srgbClr val="21262D"/>
            </a:solidFill>
            <a:prstDash val="solid"/>
          </a:ln>
        </p:spPr>
        <p:txBody>
          <a:bodyPr/>
          <a:lstStyle/>
          <a:p>
            <a:endParaRPr lang="en-US"/>
          </a:p>
        </p:txBody>
      </p:sp>
      <p:sp>
        <p:nvSpPr>
          <p:cNvPr id="22" name="Text 20"/>
          <p:cNvSpPr/>
          <p:nvPr/>
        </p:nvSpPr>
        <p:spPr>
          <a:xfrm>
            <a:off x="6793992" y="4389120"/>
            <a:ext cx="4572000" cy="274320"/>
          </a:xfrm>
          <a:prstGeom prst="rect">
            <a:avLst/>
          </a:prstGeom>
          <a:noFill/>
          <a:ln/>
        </p:spPr>
        <p:txBody>
          <a:bodyPr wrap="square" lIns="0" tIns="0" rIns="0" bIns="0" rtlCol="0" anchor="ctr"/>
          <a:lstStyle/>
          <a:p>
            <a:pPr marL="0" indent="0" algn="l">
              <a:buNone/>
            </a:pPr>
            <a:r>
              <a:rPr lang="en-US" sz="1000" kern="0" spc="100" dirty="0">
                <a:solidFill>
                  <a:srgbClr val="6E7681"/>
                </a:solidFill>
                <a:latin typeface="Consolas" pitchFamily="34" charset="0"/>
                <a:ea typeface="Consolas" pitchFamily="34" charset="-122"/>
                <a:cs typeface="Consolas" pitchFamily="34" charset="-120"/>
              </a:rPr>
              <a:t>IMPACT RANKING</a:t>
            </a:r>
            <a:endParaRPr lang="en-US" sz="1000" dirty="0"/>
          </a:p>
        </p:txBody>
      </p:sp>
      <p:sp>
        <p:nvSpPr>
          <p:cNvPr id="23" name="Text 21"/>
          <p:cNvSpPr/>
          <p:nvPr/>
        </p:nvSpPr>
        <p:spPr>
          <a:xfrm>
            <a:off x="6793992" y="4681728"/>
            <a:ext cx="4480560" cy="457200"/>
          </a:xfrm>
          <a:prstGeom prst="rect">
            <a:avLst/>
          </a:prstGeom>
          <a:noFill/>
          <a:ln/>
        </p:spPr>
        <p:txBody>
          <a:bodyPr wrap="square" lIns="0" tIns="0" rIns="0" bIns="0" rtlCol="0" anchor="ctr"/>
          <a:lstStyle/>
          <a:p>
            <a:pPr marL="0" indent="0" algn="l">
              <a:lnSpc>
                <a:spcPct val="115000"/>
              </a:lnSpc>
              <a:buNone/>
            </a:pPr>
            <a:r>
              <a:rPr lang="en-US" sz="1100" dirty="0">
                <a:solidFill>
                  <a:srgbClr val="C9D1D9"/>
                </a:solidFill>
                <a:latin typeface="Calibri" pitchFamily="34" charset="0"/>
                <a:ea typeface="Calibri" pitchFamily="34" charset="-122"/>
                <a:cs typeface="Calibri" pitchFamily="34" charset="-120"/>
              </a:rPr>
              <a:t>For each newly added edit e = (c₁, c₂), with charge band β(c₂) and modifier-bypass indicator m(e) ∈ {0,1}:</a:t>
            </a:r>
            <a:endParaRPr lang="en-US" sz="1100" dirty="0"/>
          </a:p>
        </p:txBody>
      </p:sp>
      <p:sp>
        <p:nvSpPr>
          <p:cNvPr id="24" name="Text 22"/>
          <p:cNvSpPr/>
          <p:nvPr/>
        </p:nvSpPr>
        <p:spPr>
          <a:xfrm>
            <a:off x="6793992" y="5212080"/>
            <a:ext cx="4480560" cy="320040"/>
          </a:xfrm>
          <a:prstGeom prst="rect">
            <a:avLst/>
          </a:prstGeom>
          <a:noFill/>
          <a:ln/>
        </p:spPr>
        <p:txBody>
          <a:bodyPr wrap="square" lIns="0" tIns="0" rIns="0" bIns="0" rtlCol="0" anchor="ctr"/>
          <a:lstStyle/>
          <a:p>
            <a:pPr marL="0" indent="0" algn="l">
              <a:buNone/>
            </a:pPr>
            <a:r>
              <a:rPr lang="en-US" sz="1350" dirty="0">
                <a:solidFill>
                  <a:srgbClr val="E3B341"/>
                </a:solidFill>
                <a:latin typeface="Consolas" pitchFamily="34" charset="0"/>
                <a:ea typeface="Consolas" pitchFamily="34" charset="-122"/>
                <a:cs typeface="Consolas" pitchFamily="34" charset="-120"/>
              </a:rPr>
              <a:t>I(e) = β(c₂) · (1 − 0.5·m(e))</a:t>
            </a:r>
            <a:endParaRPr lang="en-US" sz="1350" dirty="0"/>
          </a:p>
        </p:txBody>
      </p:sp>
      <p:sp>
        <p:nvSpPr>
          <p:cNvPr id="25" name="Text 23"/>
          <p:cNvSpPr/>
          <p:nvPr/>
        </p:nvSpPr>
        <p:spPr>
          <a:xfrm>
            <a:off x="6793992" y="5596128"/>
            <a:ext cx="4480560" cy="365760"/>
          </a:xfrm>
          <a:prstGeom prst="rect">
            <a:avLst/>
          </a:prstGeom>
          <a:noFill/>
          <a:ln/>
        </p:spPr>
        <p:txBody>
          <a:bodyPr wrap="square" lIns="0" tIns="0" rIns="0" bIns="0" rtlCol="0" anchor="ctr"/>
          <a:lstStyle/>
          <a:p>
            <a:pPr marL="0" indent="0" algn="l">
              <a:buNone/>
            </a:pPr>
            <a:r>
              <a:rPr lang="en-US" sz="1050" i="1" dirty="0">
                <a:solidFill>
                  <a:srgbClr val="6E7681"/>
                </a:solidFill>
                <a:latin typeface="Calibri" pitchFamily="34" charset="0"/>
                <a:ea typeface="Calibri" pitchFamily="34" charset="-122"/>
                <a:cs typeface="Calibri" pitchFamily="34" charset="-120"/>
              </a:rPr>
              <a:t>Bypassable edits are discounted, not excluded.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EVALUATION — ABLATION</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Does each layer earn its place?</a:t>
            </a:r>
            <a:endParaRPr lang="en-US" sz="3200" dirty="0"/>
          </a:p>
        </p:txBody>
      </p:sp>
      <p:graphicFrame>
        <p:nvGraphicFramePr>
          <p:cNvPr id="4" name="Chart 0"/>
          <p:cNvGraphicFramePr/>
          <p:nvPr/>
        </p:nvGraphicFramePr>
        <p:xfrm>
          <a:off x="640080" y="1920240"/>
          <a:ext cx="65836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406640" y="1965960"/>
            <a:ext cx="4114800" cy="320040"/>
          </a:xfrm>
          <a:prstGeom prst="rect">
            <a:avLst/>
          </a:prstGeom>
          <a:noFill/>
          <a:ln/>
        </p:spPr>
        <p:txBody>
          <a:bodyPr wrap="square" lIns="0" tIns="0" rIns="0" bIns="0" rtlCol="0" anchor="ctr"/>
          <a:lstStyle/>
          <a:p>
            <a:pPr marL="0" indent="0" algn="l">
              <a:buNone/>
            </a:pPr>
            <a:r>
              <a:rPr lang="en-US" sz="1400" b="1" dirty="0">
                <a:solidFill>
                  <a:srgbClr val="F0F6FC"/>
                </a:solidFill>
                <a:latin typeface="Consolas" pitchFamily="34" charset="0"/>
                <a:ea typeface="Consolas" pitchFamily="34" charset="-122"/>
                <a:cs typeface="Consolas" pitchFamily="34" charset="-120"/>
              </a:rPr>
              <a:t>L0  </a:t>
            </a:r>
            <a:r>
              <a:rPr lang="en-US" sz="1400" dirty="0">
                <a:solidFill>
                  <a:srgbClr val="C9D1D9"/>
                </a:solidFill>
                <a:latin typeface="Calibri" pitchFamily="34" charset="0"/>
                <a:ea typeface="Calibri" pitchFamily="34" charset="-122"/>
                <a:cs typeface="Calibri" pitchFamily="34" charset="-120"/>
              </a:rPr>
              <a:t>bare prompt</a:t>
            </a:r>
            <a:endParaRPr lang="en-US" sz="1400" dirty="0"/>
          </a:p>
        </p:txBody>
      </p:sp>
      <p:sp>
        <p:nvSpPr>
          <p:cNvPr id="6" name="Text 3"/>
          <p:cNvSpPr/>
          <p:nvPr/>
        </p:nvSpPr>
        <p:spPr>
          <a:xfrm>
            <a:off x="7406640" y="2286000"/>
            <a:ext cx="4114800" cy="320040"/>
          </a:xfrm>
          <a:prstGeom prst="rect">
            <a:avLst/>
          </a:prstGeom>
          <a:noFill/>
          <a:ln/>
        </p:spPr>
        <p:txBody>
          <a:bodyPr wrap="square" lIns="0" tIns="0" rIns="0" bIns="0" rtlCol="0" anchor="ctr"/>
          <a:lstStyle/>
          <a:p>
            <a:pPr marL="0" indent="0" algn="l">
              <a:buNone/>
            </a:pPr>
            <a:r>
              <a:rPr lang="en-US" sz="1100" dirty="0">
                <a:solidFill>
                  <a:srgbClr val="F85149"/>
                </a:solidFill>
                <a:latin typeface="Consolas" pitchFamily="34" charset="0"/>
                <a:ea typeface="Consolas" pitchFamily="34" charset="-122"/>
                <a:cs typeface="Consolas" pitchFamily="34" charset="-120"/>
              </a:rPr>
              <a:t>66.7% hallucination</a:t>
            </a:r>
            <a:endParaRPr lang="en-US" sz="1100" dirty="0"/>
          </a:p>
        </p:txBody>
      </p:sp>
      <p:sp>
        <p:nvSpPr>
          <p:cNvPr id="7" name="Text 4"/>
          <p:cNvSpPr/>
          <p:nvPr/>
        </p:nvSpPr>
        <p:spPr>
          <a:xfrm>
            <a:off x="7406640" y="2770632"/>
            <a:ext cx="4114800" cy="320040"/>
          </a:xfrm>
          <a:prstGeom prst="rect">
            <a:avLst/>
          </a:prstGeom>
          <a:noFill/>
          <a:ln/>
        </p:spPr>
        <p:txBody>
          <a:bodyPr wrap="square" lIns="0" tIns="0" rIns="0" bIns="0" rtlCol="0" anchor="ctr"/>
          <a:lstStyle/>
          <a:p>
            <a:pPr marL="0" indent="0" algn="l">
              <a:buNone/>
            </a:pPr>
            <a:r>
              <a:rPr lang="en-US" sz="1400" b="1" dirty="0">
                <a:solidFill>
                  <a:srgbClr val="F0F6FC"/>
                </a:solidFill>
                <a:latin typeface="Consolas" pitchFamily="34" charset="0"/>
                <a:ea typeface="Consolas" pitchFamily="34" charset="-122"/>
                <a:cs typeface="Consolas" pitchFamily="34" charset="-120"/>
              </a:rPr>
              <a:t>L1  </a:t>
            </a:r>
            <a:r>
              <a:rPr lang="en-US" sz="1400" dirty="0">
                <a:solidFill>
                  <a:srgbClr val="C9D1D9"/>
                </a:solidFill>
                <a:latin typeface="Calibri" pitchFamily="34" charset="0"/>
                <a:ea typeface="Calibri" pitchFamily="34" charset="-122"/>
                <a:cs typeface="Calibri" pitchFamily="34" charset="-120"/>
              </a:rPr>
              <a:t>+ strict schema</a:t>
            </a:r>
            <a:endParaRPr lang="en-US" sz="1400" dirty="0"/>
          </a:p>
        </p:txBody>
      </p:sp>
      <p:sp>
        <p:nvSpPr>
          <p:cNvPr id="8" name="Text 5"/>
          <p:cNvSpPr/>
          <p:nvPr/>
        </p:nvSpPr>
        <p:spPr>
          <a:xfrm>
            <a:off x="7406640" y="3090672"/>
            <a:ext cx="4114800" cy="320040"/>
          </a:xfrm>
          <a:prstGeom prst="rect">
            <a:avLst/>
          </a:prstGeom>
          <a:noFill/>
          <a:ln/>
        </p:spPr>
        <p:txBody>
          <a:bodyPr wrap="square" lIns="0" tIns="0" rIns="0" bIns="0" rtlCol="0" anchor="ctr"/>
          <a:lstStyle/>
          <a:p>
            <a:pPr marL="0" indent="0" algn="l">
              <a:buNone/>
            </a:pPr>
            <a:r>
              <a:rPr lang="en-US" sz="1100" dirty="0">
                <a:solidFill>
                  <a:srgbClr val="3FB950"/>
                </a:solidFill>
                <a:latin typeface="Consolas" pitchFamily="34" charset="0"/>
                <a:ea typeface="Consolas" pitchFamily="34" charset="-122"/>
                <a:cs typeface="Consolas" pitchFamily="34" charset="-120"/>
              </a:rPr>
              <a:t>hallucination → 0%</a:t>
            </a:r>
            <a:endParaRPr lang="en-US" sz="1100" dirty="0"/>
          </a:p>
        </p:txBody>
      </p:sp>
      <p:sp>
        <p:nvSpPr>
          <p:cNvPr id="9" name="Text 6"/>
          <p:cNvSpPr/>
          <p:nvPr/>
        </p:nvSpPr>
        <p:spPr>
          <a:xfrm>
            <a:off x="7406640" y="3575304"/>
            <a:ext cx="4114800" cy="320040"/>
          </a:xfrm>
          <a:prstGeom prst="rect">
            <a:avLst/>
          </a:prstGeom>
          <a:noFill/>
          <a:ln/>
        </p:spPr>
        <p:txBody>
          <a:bodyPr wrap="square" lIns="0" tIns="0" rIns="0" bIns="0" rtlCol="0" anchor="ctr"/>
          <a:lstStyle/>
          <a:p>
            <a:pPr marL="0" indent="0" algn="l">
              <a:buNone/>
            </a:pPr>
            <a:r>
              <a:rPr lang="en-US" sz="1400" b="1" dirty="0">
                <a:solidFill>
                  <a:srgbClr val="F0F6FC"/>
                </a:solidFill>
                <a:latin typeface="Consolas" pitchFamily="34" charset="0"/>
                <a:ea typeface="Consolas" pitchFamily="34" charset="-122"/>
                <a:cs typeface="Consolas" pitchFamily="34" charset="-120"/>
              </a:rPr>
              <a:t>L2  </a:t>
            </a:r>
            <a:r>
              <a:rPr lang="en-US" sz="1400" dirty="0">
                <a:solidFill>
                  <a:srgbClr val="C9D1D9"/>
                </a:solidFill>
                <a:latin typeface="Calibri" pitchFamily="34" charset="0"/>
                <a:ea typeface="Calibri" pitchFamily="34" charset="-122"/>
                <a:cs typeface="Calibri" pitchFamily="34" charset="-120"/>
              </a:rPr>
              <a:t>+ retrieval</a:t>
            </a:r>
            <a:endParaRPr lang="en-US" sz="1400" dirty="0"/>
          </a:p>
        </p:txBody>
      </p:sp>
      <p:sp>
        <p:nvSpPr>
          <p:cNvPr id="10" name="Text 7"/>
          <p:cNvSpPr/>
          <p:nvPr/>
        </p:nvSpPr>
        <p:spPr>
          <a:xfrm>
            <a:off x="7406640" y="3895344"/>
            <a:ext cx="4114800" cy="320040"/>
          </a:xfrm>
          <a:prstGeom prst="rect">
            <a:avLst/>
          </a:prstGeom>
          <a:noFill/>
          <a:ln/>
        </p:spPr>
        <p:txBody>
          <a:bodyPr wrap="square" lIns="0" tIns="0" rIns="0" bIns="0" rtlCol="0" anchor="ctr"/>
          <a:lstStyle/>
          <a:p>
            <a:pPr marL="0" indent="0" algn="l">
              <a:buNone/>
            </a:pPr>
            <a:r>
              <a:rPr lang="en-US" sz="1100" dirty="0">
                <a:solidFill>
                  <a:srgbClr val="6E7681"/>
                </a:solidFill>
                <a:latin typeface="Consolas" pitchFamily="34" charset="0"/>
                <a:ea typeface="Consolas" pitchFamily="34" charset="-122"/>
                <a:cs typeface="Consolas" pitchFamily="34" charset="-120"/>
              </a:rPr>
              <a:t>terminology grounding</a:t>
            </a:r>
            <a:endParaRPr lang="en-US" sz="1100" dirty="0"/>
          </a:p>
        </p:txBody>
      </p:sp>
      <p:sp>
        <p:nvSpPr>
          <p:cNvPr id="11" name="Text 8"/>
          <p:cNvSpPr/>
          <p:nvPr/>
        </p:nvSpPr>
        <p:spPr>
          <a:xfrm>
            <a:off x="7406640" y="4379976"/>
            <a:ext cx="4114800" cy="320040"/>
          </a:xfrm>
          <a:prstGeom prst="rect">
            <a:avLst/>
          </a:prstGeom>
          <a:noFill/>
          <a:ln/>
        </p:spPr>
        <p:txBody>
          <a:bodyPr wrap="square" lIns="0" tIns="0" rIns="0" bIns="0" rtlCol="0" anchor="ctr"/>
          <a:lstStyle/>
          <a:p>
            <a:pPr marL="0" indent="0" algn="l">
              <a:buNone/>
            </a:pPr>
            <a:r>
              <a:rPr lang="en-US" sz="1400" b="1" dirty="0">
                <a:solidFill>
                  <a:srgbClr val="F0F6FC"/>
                </a:solidFill>
                <a:latin typeface="Consolas" pitchFamily="34" charset="0"/>
                <a:ea typeface="Consolas" pitchFamily="34" charset="-122"/>
                <a:cs typeface="Consolas" pitchFamily="34" charset="-120"/>
              </a:rPr>
              <a:t>L3  </a:t>
            </a:r>
            <a:r>
              <a:rPr lang="en-US" sz="1400" dirty="0">
                <a:solidFill>
                  <a:srgbClr val="C9D1D9"/>
                </a:solidFill>
                <a:latin typeface="Calibri" pitchFamily="34" charset="0"/>
                <a:ea typeface="Calibri" pitchFamily="34" charset="-122"/>
                <a:cs typeface="Calibri" pitchFamily="34" charset="-120"/>
              </a:rPr>
              <a:t>+ validator</a:t>
            </a:r>
            <a:endParaRPr lang="en-US" sz="1400" dirty="0"/>
          </a:p>
        </p:txBody>
      </p:sp>
      <p:sp>
        <p:nvSpPr>
          <p:cNvPr id="12" name="Text 9"/>
          <p:cNvSpPr/>
          <p:nvPr/>
        </p:nvSpPr>
        <p:spPr>
          <a:xfrm>
            <a:off x="7406640" y="4700016"/>
            <a:ext cx="4114800" cy="320040"/>
          </a:xfrm>
          <a:prstGeom prst="rect">
            <a:avLst/>
          </a:prstGeom>
          <a:noFill/>
          <a:ln/>
        </p:spPr>
        <p:txBody>
          <a:bodyPr wrap="square" lIns="0" tIns="0" rIns="0" bIns="0" rtlCol="0" anchor="ctr"/>
          <a:lstStyle/>
          <a:p>
            <a:pPr marL="0" indent="0" algn="l">
              <a:buNone/>
            </a:pPr>
            <a:r>
              <a:rPr lang="en-US" sz="1100" dirty="0">
                <a:solidFill>
                  <a:srgbClr val="E3B341"/>
                </a:solidFill>
                <a:latin typeface="Consolas" pitchFamily="34" charset="0"/>
                <a:ea typeface="Consolas" pitchFamily="34" charset="-122"/>
                <a:cs typeface="Consolas" pitchFamily="34" charset="-120"/>
              </a:rPr>
              <a:t>precision/recall tradeoff</a:t>
            </a:r>
            <a:endParaRPr lang="en-US" sz="1100" dirty="0"/>
          </a:p>
        </p:txBody>
      </p:sp>
      <p:sp>
        <p:nvSpPr>
          <p:cNvPr id="13" name="Text 10"/>
          <p:cNvSpPr/>
          <p:nvPr/>
        </p:nvSpPr>
        <p:spPr>
          <a:xfrm>
            <a:off x="7406640" y="5184648"/>
            <a:ext cx="4114800" cy="320040"/>
          </a:xfrm>
          <a:prstGeom prst="rect">
            <a:avLst/>
          </a:prstGeom>
          <a:noFill/>
          <a:ln/>
        </p:spPr>
        <p:txBody>
          <a:bodyPr wrap="square" lIns="0" tIns="0" rIns="0" bIns="0" rtlCol="0" anchor="ctr"/>
          <a:lstStyle/>
          <a:p>
            <a:pPr marL="0" indent="0" algn="l">
              <a:buNone/>
            </a:pPr>
            <a:r>
              <a:rPr lang="en-US" sz="1400" b="1" dirty="0">
                <a:solidFill>
                  <a:srgbClr val="F0F6FC"/>
                </a:solidFill>
                <a:latin typeface="Consolas" pitchFamily="34" charset="0"/>
                <a:ea typeface="Consolas" pitchFamily="34" charset="-122"/>
                <a:cs typeface="Consolas" pitchFamily="34" charset="-120"/>
              </a:rPr>
              <a:t>L4  </a:t>
            </a:r>
            <a:r>
              <a:rPr lang="en-US" sz="1400" dirty="0">
                <a:solidFill>
                  <a:srgbClr val="C9D1D9"/>
                </a:solidFill>
                <a:latin typeface="Calibri" pitchFamily="34" charset="0"/>
                <a:ea typeface="Calibri" pitchFamily="34" charset="-122"/>
                <a:cs typeface="Calibri" pitchFamily="34" charset="-120"/>
              </a:rPr>
              <a:t>+ few-shot</a:t>
            </a:r>
            <a:endParaRPr lang="en-US" sz="1400" dirty="0"/>
          </a:p>
        </p:txBody>
      </p:sp>
      <p:sp>
        <p:nvSpPr>
          <p:cNvPr id="14" name="Text 11"/>
          <p:cNvSpPr/>
          <p:nvPr/>
        </p:nvSpPr>
        <p:spPr>
          <a:xfrm>
            <a:off x="7406640" y="5504688"/>
            <a:ext cx="4114800" cy="320040"/>
          </a:xfrm>
          <a:prstGeom prst="rect">
            <a:avLst/>
          </a:prstGeom>
          <a:noFill/>
          <a:ln/>
        </p:spPr>
        <p:txBody>
          <a:bodyPr wrap="square" lIns="0" tIns="0" rIns="0" bIns="0" rtlCol="0" anchor="ctr"/>
          <a:lstStyle/>
          <a:p>
            <a:pPr marL="0" indent="0" algn="l">
              <a:buNone/>
            </a:pPr>
            <a:r>
              <a:rPr lang="en-US" sz="1100" dirty="0">
                <a:solidFill>
                  <a:srgbClr val="E3B341"/>
                </a:solidFill>
                <a:latin typeface="Consolas" pitchFamily="34" charset="0"/>
                <a:ea typeface="Consolas" pitchFamily="34" charset="-122"/>
                <a:cs typeface="Consolas" pitchFamily="34" charset="-120"/>
              </a:rPr>
              <a:t>best F1 = 0.667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EVALUATION — VARIANCE</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Is the number stable, or just lucky?</a:t>
            </a:r>
            <a:endParaRPr lang="en-US" sz="3200" dirty="0"/>
          </a:p>
        </p:txBody>
      </p:sp>
      <p:sp>
        <p:nvSpPr>
          <p:cNvPr id="4" name="Text 2"/>
          <p:cNvSpPr/>
          <p:nvPr/>
        </p:nvSpPr>
        <p:spPr>
          <a:xfrm>
            <a:off x="640080" y="1783080"/>
            <a:ext cx="10881360" cy="457200"/>
          </a:xfrm>
          <a:prstGeom prst="rect">
            <a:avLst/>
          </a:prstGeom>
          <a:noFill/>
          <a:ln/>
        </p:spPr>
        <p:txBody>
          <a:bodyPr wrap="square" rtlCol="0" anchor="ctr"/>
          <a:lstStyle/>
          <a:p>
            <a:pPr marL="0" indent="0" algn="l">
              <a:buNone/>
            </a:pPr>
            <a:r>
              <a:rPr lang="en-US" sz="1500" dirty="0">
                <a:solidFill>
                  <a:srgbClr val="C9D1D9"/>
                </a:solidFill>
                <a:latin typeface="Calibri" pitchFamily="34" charset="0"/>
                <a:ea typeface="Calibri" pitchFamily="34" charset="-122"/>
                <a:cs typeface="Calibri" pitchFamily="34" charset="-120"/>
              </a:rPr>
              <a:t>Each level run 5× at temperature 0.7, caching off. The point estimate alone hides whether it is trustworthy.</a:t>
            </a:r>
            <a:endParaRPr lang="en-US" sz="1500" dirty="0"/>
          </a:p>
        </p:txBody>
      </p:sp>
      <p:graphicFrame>
        <p:nvGraphicFramePr>
          <p:cNvPr id="5" name="Chart 0"/>
          <p:cNvGraphicFramePr/>
          <p:nvPr/>
        </p:nvGraphicFramePr>
        <p:xfrm>
          <a:off x="640080" y="2468880"/>
          <a:ext cx="64008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949440" y="2468880"/>
            <a:ext cx="4572000" cy="3383280"/>
          </a:xfrm>
          <a:prstGeom prst="roundRect">
            <a:avLst>
              <a:gd name="adj" fmla="val 2162"/>
            </a:avLst>
          </a:prstGeom>
          <a:solidFill>
            <a:srgbClr val="0A1A0A"/>
          </a:solidFill>
          <a:ln w="12700">
            <a:solidFill>
              <a:srgbClr val="21262D"/>
            </a:solidFill>
            <a:prstDash val="solid"/>
          </a:ln>
        </p:spPr>
        <p:txBody>
          <a:bodyPr/>
          <a:lstStyle/>
          <a:p>
            <a:endParaRPr lang="en-US"/>
          </a:p>
        </p:txBody>
      </p:sp>
      <p:sp>
        <p:nvSpPr>
          <p:cNvPr id="7" name="Text 4"/>
          <p:cNvSpPr/>
          <p:nvPr/>
        </p:nvSpPr>
        <p:spPr>
          <a:xfrm>
            <a:off x="7178040" y="2697480"/>
            <a:ext cx="4114800" cy="365760"/>
          </a:xfrm>
          <a:prstGeom prst="rect">
            <a:avLst/>
          </a:prstGeom>
          <a:noFill/>
          <a:ln/>
        </p:spPr>
        <p:txBody>
          <a:bodyPr wrap="square" lIns="0" tIns="0" rIns="0" bIns="0" rtlCol="0" anchor="ctr"/>
          <a:lstStyle/>
          <a:p>
            <a:pPr marL="0" indent="0" algn="l">
              <a:buNone/>
            </a:pPr>
            <a:r>
              <a:rPr lang="en-US" sz="1800" b="1" dirty="0">
                <a:solidFill>
                  <a:srgbClr val="3FB950"/>
                </a:solidFill>
                <a:latin typeface="Cambria" pitchFamily="34" charset="0"/>
                <a:ea typeface="Cambria" pitchFamily="34" charset="-122"/>
                <a:cs typeface="Cambria" pitchFamily="34" charset="-120"/>
              </a:rPr>
              <a:t>The insight</a:t>
            </a:r>
            <a:endParaRPr lang="en-US" sz="1800" dirty="0"/>
          </a:p>
        </p:txBody>
      </p:sp>
      <p:sp>
        <p:nvSpPr>
          <p:cNvPr id="8" name="Text 5"/>
          <p:cNvSpPr/>
          <p:nvPr/>
        </p:nvSpPr>
        <p:spPr>
          <a:xfrm>
            <a:off x="7178040" y="3200400"/>
            <a:ext cx="4114800" cy="914400"/>
          </a:xfrm>
          <a:prstGeom prst="rect">
            <a:avLst/>
          </a:prstGeom>
          <a:noFill/>
          <a:ln/>
        </p:spPr>
        <p:txBody>
          <a:bodyPr wrap="square" lIns="0" tIns="0" rIns="0" bIns="0" rtlCol="0" anchor="ctr"/>
          <a:lstStyle/>
          <a:p>
            <a:pPr marL="0" indent="0" algn="l">
              <a:lnSpc>
                <a:spcPct val="125000"/>
              </a:lnSpc>
              <a:buNone/>
            </a:pPr>
            <a:r>
              <a:rPr lang="en-US" sz="1450" dirty="0">
                <a:solidFill>
                  <a:srgbClr val="C9D1D9"/>
                </a:solidFill>
                <a:latin typeface="Calibri" pitchFamily="34" charset="0"/>
                <a:ea typeface="Calibri" pitchFamily="34" charset="-122"/>
                <a:cs typeface="Calibri" pitchFamily="34" charset="-120"/>
              </a:rPr>
              <a:t>Structured output nearly </a:t>
            </a:r>
            <a:r>
              <a:rPr lang="en-US" sz="1450" b="1" dirty="0">
                <a:solidFill>
                  <a:srgbClr val="3FB950"/>
                </a:solidFill>
                <a:latin typeface="Calibri" pitchFamily="34" charset="0"/>
                <a:ea typeface="Calibri" pitchFamily="34" charset="-122"/>
                <a:cs typeface="Calibri" pitchFamily="34" charset="-120"/>
              </a:rPr>
              <a:t>halves the variance</a:t>
            </a:r>
            <a:r>
              <a:rPr lang="en-US" sz="1450" dirty="0">
                <a:solidFill>
                  <a:srgbClr val="C9D1D9"/>
                </a:solidFill>
                <a:latin typeface="Calibri" pitchFamily="34" charset="0"/>
                <a:ea typeface="Calibri" pitchFamily="34" charset="-122"/>
                <a:cs typeface="Calibri" pitchFamily="34" charset="-120"/>
              </a:rPr>
              <a:t> (L0 0.091 → L1 0.054), not just the error rate.</a:t>
            </a:r>
            <a:endParaRPr lang="en-US" sz="1450" dirty="0"/>
          </a:p>
        </p:txBody>
      </p:sp>
      <p:sp>
        <p:nvSpPr>
          <p:cNvPr id="9" name="Text 6"/>
          <p:cNvSpPr/>
          <p:nvPr/>
        </p:nvSpPr>
        <p:spPr>
          <a:xfrm>
            <a:off x="7178040" y="4297680"/>
            <a:ext cx="4114800" cy="1280160"/>
          </a:xfrm>
          <a:prstGeom prst="rect">
            <a:avLst/>
          </a:prstGeom>
          <a:noFill/>
          <a:ln/>
        </p:spPr>
        <p:txBody>
          <a:bodyPr wrap="square" lIns="0" tIns="0" rIns="0" bIns="0" rtlCol="0" anchor="ctr"/>
          <a:lstStyle/>
          <a:p>
            <a:pPr marL="0" indent="0" algn="l">
              <a:lnSpc>
                <a:spcPct val="125000"/>
              </a:lnSpc>
              <a:buNone/>
            </a:pPr>
            <a:r>
              <a:rPr lang="en-US" sz="1300" i="1" dirty="0">
                <a:solidFill>
                  <a:srgbClr val="6E7681"/>
                </a:solidFill>
                <a:latin typeface="Calibri" pitchFamily="34" charset="0"/>
                <a:ea typeface="Calibri" pitchFamily="34" charset="-122"/>
                <a:cs typeface="Calibri" pitchFamily="34" charset="-120"/>
              </a:rPr>
              <a:t>For a payer system, predictability is as important as accuracy — a system that answers differently each run cannot pass audit.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CAPABILITY 2 — DIFF &amp; IMPACT</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What changed, and where to spend review time</a:t>
            </a:r>
            <a:endParaRPr lang="en-US" sz="3200" dirty="0"/>
          </a:p>
        </p:txBody>
      </p:sp>
      <p:sp>
        <p:nvSpPr>
          <p:cNvPr id="4" name="Shape 2"/>
          <p:cNvSpPr/>
          <p:nvPr/>
        </p:nvSpPr>
        <p:spPr>
          <a:xfrm>
            <a:off x="640080" y="1828800"/>
            <a:ext cx="2560320" cy="1371600"/>
          </a:xfrm>
          <a:prstGeom prst="roundRect">
            <a:avLst>
              <a:gd name="adj" fmla="val 5333"/>
            </a:avLst>
          </a:prstGeom>
          <a:solidFill>
            <a:srgbClr val="161B22"/>
          </a:solidFill>
          <a:ln w="12700">
            <a:solidFill>
              <a:srgbClr val="21262D"/>
            </a:solidFill>
            <a:prstDash val="solid"/>
          </a:ln>
        </p:spPr>
        <p:txBody>
          <a:bodyPr/>
          <a:lstStyle/>
          <a:p>
            <a:endParaRPr lang="en-US"/>
          </a:p>
        </p:txBody>
      </p:sp>
      <p:sp>
        <p:nvSpPr>
          <p:cNvPr id="5" name="Text 3"/>
          <p:cNvSpPr/>
          <p:nvPr/>
        </p:nvSpPr>
        <p:spPr>
          <a:xfrm>
            <a:off x="777240" y="2011680"/>
            <a:ext cx="2286000" cy="685800"/>
          </a:xfrm>
          <a:prstGeom prst="rect">
            <a:avLst/>
          </a:prstGeom>
          <a:noFill/>
          <a:ln/>
        </p:spPr>
        <p:txBody>
          <a:bodyPr wrap="square" lIns="0" tIns="0" rIns="0" bIns="0" rtlCol="0" anchor="ctr"/>
          <a:lstStyle/>
          <a:p>
            <a:pPr marL="0" indent="0" algn="l">
              <a:buNone/>
            </a:pPr>
            <a:r>
              <a:rPr lang="en-US" sz="3400" b="1" dirty="0">
                <a:solidFill>
                  <a:srgbClr val="F0F6FC"/>
                </a:solidFill>
                <a:latin typeface="Consolas" pitchFamily="34" charset="0"/>
                <a:ea typeface="Consolas" pitchFamily="34" charset="-122"/>
                <a:cs typeface="Consolas" pitchFamily="34" charset="-120"/>
              </a:rPr>
              <a:t>+2,199</a:t>
            </a:r>
            <a:endParaRPr lang="en-US" sz="3400" dirty="0"/>
          </a:p>
        </p:txBody>
      </p:sp>
      <p:sp>
        <p:nvSpPr>
          <p:cNvPr id="6" name="Text 4"/>
          <p:cNvSpPr/>
          <p:nvPr/>
        </p:nvSpPr>
        <p:spPr>
          <a:xfrm>
            <a:off x="777240" y="2724912"/>
            <a:ext cx="2286000" cy="365760"/>
          </a:xfrm>
          <a:prstGeom prst="rect">
            <a:avLst/>
          </a:prstGeom>
          <a:noFill/>
          <a:ln/>
        </p:spPr>
        <p:txBody>
          <a:bodyPr wrap="square" lIns="0" tIns="0" rIns="0" bIns="0" rtlCol="0" anchor="ctr"/>
          <a:lstStyle/>
          <a:p>
            <a:pPr marL="0" indent="0" algn="l">
              <a:buNone/>
            </a:pPr>
            <a:r>
              <a:rPr lang="en-US" sz="1050" kern="0" spc="100" dirty="0">
                <a:solidFill>
                  <a:srgbClr val="6E7681"/>
                </a:solidFill>
                <a:latin typeface="Calibri" pitchFamily="34" charset="0"/>
                <a:ea typeface="Calibri" pitchFamily="34" charset="-122"/>
                <a:cs typeface="Calibri" pitchFamily="34" charset="-120"/>
              </a:rPr>
              <a:t>EDITS ADDED Q2→Q3</a:t>
            </a:r>
            <a:endParaRPr lang="en-US" sz="1050" dirty="0"/>
          </a:p>
        </p:txBody>
      </p:sp>
      <p:sp>
        <p:nvSpPr>
          <p:cNvPr id="7" name="Shape 5"/>
          <p:cNvSpPr/>
          <p:nvPr/>
        </p:nvSpPr>
        <p:spPr>
          <a:xfrm>
            <a:off x="3383280" y="1828800"/>
            <a:ext cx="2560320" cy="1371600"/>
          </a:xfrm>
          <a:prstGeom prst="roundRect">
            <a:avLst>
              <a:gd name="adj" fmla="val 5333"/>
            </a:avLst>
          </a:prstGeom>
          <a:solidFill>
            <a:srgbClr val="161B22"/>
          </a:solidFill>
          <a:ln w="12700">
            <a:solidFill>
              <a:srgbClr val="21262D"/>
            </a:solidFill>
            <a:prstDash val="solid"/>
          </a:ln>
        </p:spPr>
        <p:txBody>
          <a:bodyPr/>
          <a:lstStyle/>
          <a:p>
            <a:endParaRPr lang="en-US"/>
          </a:p>
        </p:txBody>
      </p:sp>
      <p:sp>
        <p:nvSpPr>
          <p:cNvPr id="8" name="Text 6"/>
          <p:cNvSpPr/>
          <p:nvPr/>
        </p:nvSpPr>
        <p:spPr>
          <a:xfrm>
            <a:off x="3520440" y="2011680"/>
            <a:ext cx="2286000" cy="685800"/>
          </a:xfrm>
          <a:prstGeom prst="rect">
            <a:avLst/>
          </a:prstGeom>
          <a:noFill/>
          <a:ln/>
        </p:spPr>
        <p:txBody>
          <a:bodyPr wrap="square" lIns="0" tIns="0" rIns="0" bIns="0" rtlCol="0" anchor="ctr"/>
          <a:lstStyle/>
          <a:p>
            <a:pPr marL="0" indent="0" algn="l">
              <a:buNone/>
            </a:pPr>
            <a:r>
              <a:rPr lang="en-US" sz="3400" b="1" dirty="0">
                <a:solidFill>
                  <a:srgbClr val="3FB950"/>
                </a:solidFill>
                <a:latin typeface="Consolas" pitchFamily="34" charset="0"/>
                <a:ea typeface="Consolas" pitchFamily="34" charset="-122"/>
                <a:cs typeface="Consolas" pitchFamily="34" charset="-120"/>
              </a:rPr>
              <a:t>exact</a:t>
            </a:r>
            <a:endParaRPr lang="en-US" sz="3400" dirty="0"/>
          </a:p>
        </p:txBody>
      </p:sp>
      <p:sp>
        <p:nvSpPr>
          <p:cNvPr id="9" name="Text 7"/>
          <p:cNvSpPr/>
          <p:nvPr/>
        </p:nvSpPr>
        <p:spPr>
          <a:xfrm>
            <a:off x="3520440" y="2724912"/>
            <a:ext cx="2286000" cy="365760"/>
          </a:xfrm>
          <a:prstGeom prst="rect">
            <a:avLst/>
          </a:prstGeom>
          <a:noFill/>
          <a:ln/>
        </p:spPr>
        <p:txBody>
          <a:bodyPr wrap="square" lIns="0" tIns="0" rIns="0" bIns="0" rtlCol="0" anchor="ctr"/>
          <a:lstStyle/>
          <a:p>
            <a:pPr marL="0" indent="0" algn="l">
              <a:buNone/>
            </a:pPr>
            <a:r>
              <a:rPr lang="en-US" sz="1050" kern="0" spc="100" dirty="0">
                <a:solidFill>
                  <a:srgbClr val="6E7681"/>
                </a:solidFill>
                <a:latin typeface="Calibri" pitchFamily="34" charset="0"/>
                <a:ea typeface="Calibri" pitchFamily="34" charset="-122"/>
                <a:cs typeface="Calibri" pitchFamily="34" charset="-120"/>
              </a:rPr>
              <a:t>MATCH VS CMS OFFICIAL</a:t>
            </a:r>
            <a:endParaRPr lang="en-US" sz="1050" dirty="0"/>
          </a:p>
        </p:txBody>
      </p:sp>
      <p:sp>
        <p:nvSpPr>
          <p:cNvPr id="10" name="Shape 8"/>
          <p:cNvSpPr/>
          <p:nvPr/>
        </p:nvSpPr>
        <p:spPr>
          <a:xfrm>
            <a:off x="6126480" y="1828800"/>
            <a:ext cx="2560320" cy="1371600"/>
          </a:xfrm>
          <a:prstGeom prst="roundRect">
            <a:avLst>
              <a:gd name="adj" fmla="val 5333"/>
            </a:avLst>
          </a:prstGeom>
          <a:solidFill>
            <a:srgbClr val="161B22"/>
          </a:solidFill>
          <a:ln w="12700">
            <a:solidFill>
              <a:srgbClr val="21262D"/>
            </a:solidFill>
            <a:prstDash val="solid"/>
          </a:ln>
        </p:spPr>
        <p:txBody>
          <a:bodyPr/>
          <a:lstStyle/>
          <a:p>
            <a:endParaRPr lang="en-US"/>
          </a:p>
        </p:txBody>
      </p:sp>
      <p:sp>
        <p:nvSpPr>
          <p:cNvPr id="11" name="Text 9"/>
          <p:cNvSpPr/>
          <p:nvPr/>
        </p:nvSpPr>
        <p:spPr>
          <a:xfrm>
            <a:off x="6263640" y="2011680"/>
            <a:ext cx="2286000" cy="685800"/>
          </a:xfrm>
          <a:prstGeom prst="rect">
            <a:avLst/>
          </a:prstGeom>
          <a:noFill/>
          <a:ln/>
        </p:spPr>
        <p:txBody>
          <a:bodyPr wrap="square" lIns="0" tIns="0" rIns="0" bIns="0" rtlCol="0" anchor="ctr"/>
          <a:lstStyle/>
          <a:p>
            <a:pPr marL="0" indent="0" algn="l">
              <a:buNone/>
            </a:pPr>
            <a:r>
              <a:rPr lang="en-US" sz="3400" b="1" dirty="0">
                <a:solidFill>
                  <a:srgbClr val="E3B341"/>
                </a:solidFill>
                <a:latin typeface="Consolas" pitchFamily="34" charset="0"/>
                <a:ea typeface="Consolas" pitchFamily="34" charset="-122"/>
                <a:cs typeface="Consolas" pitchFamily="34" charset="-120"/>
              </a:rPr>
              <a:t>$591K</a:t>
            </a:r>
            <a:endParaRPr lang="en-US" sz="3400" dirty="0"/>
          </a:p>
        </p:txBody>
      </p:sp>
      <p:sp>
        <p:nvSpPr>
          <p:cNvPr id="12" name="Text 10"/>
          <p:cNvSpPr/>
          <p:nvPr/>
        </p:nvSpPr>
        <p:spPr>
          <a:xfrm>
            <a:off x="6263640" y="2724912"/>
            <a:ext cx="2286000" cy="365760"/>
          </a:xfrm>
          <a:prstGeom prst="rect">
            <a:avLst/>
          </a:prstGeom>
          <a:noFill/>
          <a:ln/>
        </p:spPr>
        <p:txBody>
          <a:bodyPr wrap="square" lIns="0" tIns="0" rIns="0" bIns="0" rtlCol="0" anchor="ctr"/>
          <a:lstStyle/>
          <a:p>
            <a:pPr marL="0" indent="0" algn="l">
              <a:buNone/>
            </a:pPr>
            <a:r>
              <a:rPr lang="en-US" sz="1050" kern="0" spc="100" dirty="0">
                <a:solidFill>
                  <a:srgbClr val="6E7681"/>
                </a:solidFill>
                <a:latin typeface="Calibri" pitchFamily="34" charset="0"/>
                <a:ea typeface="Calibri" pitchFamily="34" charset="-122"/>
                <a:cs typeface="Calibri" pitchFamily="34" charset="-120"/>
              </a:rPr>
              <a:t>EST. NEW DENIALS</a:t>
            </a:r>
            <a:endParaRPr lang="en-US" sz="1050" dirty="0"/>
          </a:p>
        </p:txBody>
      </p:sp>
      <p:graphicFrame>
        <p:nvGraphicFramePr>
          <p:cNvPr id="13" name="Chart 0"/>
          <p:cNvGraphicFramePr/>
          <p:nvPr/>
        </p:nvGraphicFramePr>
        <p:xfrm>
          <a:off x="640080" y="3566160"/>
          <a:ext cx="603504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1"/>
          <p:cNvSpPr/>
          <p:nvPr/>
        </p:nvSpPr>
        <p:spPr>
          <a:xfrm>
            <a:off x="7223760" y="3566160"/>
            <a:ext cx="4297680" cy="2468880"/>
          </a:xfrm>
          <a:prstGeom prst="roundRect">
            <a:avLst>
              <a:gd name="adj" fmla="val 2963"/>
            </a:avLst>
          </a:prstGeom>
          <a:solidFill>
            <a:srgbClr val="1A1400"/>
          </a:solidFill>
          <a:ln w="12700">
            <a:solidFill>
              <a:srgbClr val="21262D"/>
            </a:solidFill>
            <a:prstDash val="solid"/>
          </a:ln>
        </p:spPr>
        <p:txBody>
          <a:bodyPr/>
          <a:lstStyle/>
          <a:p>
            <a:endParaRPr lang="en-US"/>
          </a:p>
        </p:txBody>
      </p:sp>
      <p:sp>
        <p:nvSpPr>
          <p:cNvPr id="15" name="Text 12"/>
          <p:cNvSpPr/>
          <p:nvPr/>
        </p:nvSpPr>
        <p:spPr>
          <a:xfrm>
            <a:off x="7452360" y="3749040"/>
            <a:ext cx="3840480" cy="365760"/>
          </a:xfrm>
          <a:prstGeom prst="rect">
            <a:avLst/>
          </a:prstGeom>
          <a:noFill/>
          <a:ln/>
        </p:spPr>
        <p:txBody>
          <a:bodyPr wrap="square" lIns="0" tIns="0" rIns="0" bIns="0" rtlCol="0" anchor="ctr"/>
          <a:lstStyle/>
          <a:p>
            <a:pPr marL="0" indent="0" algn="l">
              <a:buNone/>
            </a:pPr>
            <a:r>
              <a:rPr lang="en-US" sz="1700" b="1" dirty="0">
                <a:solidFill>
                  <a:srgbClr val="E3B341"/>
                </a:solidFill>
                <a:latin typeface="Cambria" pitchFamily="34" charset="0"/>
                <a:ea typeface="Cambria" pitchFamily="34" charset="-122"/>
                <a:cs typeface="Cambria" pitchFamily="34" charset="-120"/>
              </a:rPr>
              <a:t>Reviewer takeaway</a:t>
            </a:r>
            <a:endParaRPr lang="en-US" sz="1700" dirty="0"/>
          </a:p>
        </p:txBody>
      </p:sp>
      <p:sp>
        <p:nvSpPr>
          <p:cNvPr id="16" name="Text 13"/>
          <p:cNvSpPr/>
          <p:nvPr/>
        </p:nvSpPr>
        <p:spPr>
          <a:xfrm>
            <a:off x="7452360" y="4206240"/>
            <a:ext cx="3840480" cy="1737360"/>
          </a:xfrm>
          <a:prstGeom prst="rect">
            <a:avLst/>
          </a:prstGeom>
          <a:noFill/>
          <a:ln/>
        </p:spPr>
        <p:txBody>
          <a:bodyPr wrap="square" lIns="0" tIns="0" rIns="0" bIns="0" rtlCol="0" anchor="ctr"/>
          <a:lstStyle/>
          <a:p>
            <a:pPr marL="0" indent="0" algn="l">
              <a:lnSpc>
                <a:spcPct val="130000"/>
              </a:lnSpc>
              <a:buNone/>
            </a:pPr>
            <a:r>
              <a:rPr lang="en-US" sz="1400" dirty="0">
                <a:solidFill>
                  <a:srgbClr val="C9D1D9"/>
                </a:solidFill>
                <a:latin typeface="Calibri" pitchFamily="34" charset="0"/>
                <a:ea typeface="Calibri" pitchFamily="34" charset="-122"/>
                <a:cs typeface="Calibri" pitchFamily="34" charset="-120"/>
              </a:rPr>
              <a:t>Molecular / genomic (PLA) codes are </a:t>
            </a:r>
            <a:r>
              <a:rPr lang="en-US" sz="1400" b="1" dirty="0">
                <a:solidFill>
                  <a:srgbClr val="E3B341"/>
                </a:solidFill>
                <a:latin typeface="Calibri" pitchFamily="34" charset="0"/>
                <a:ea typeface="Calibri" pitchFamily="34" charset="-122"/>
                <a:cs typeface="Calibri" pitchFamily="34" charset="-120"/>
              </a:rPr>
              <a:t>24% of added edits but 47% of the impact</a:t>
            </a:r>
            <a:r>
              <a:rPr lang="en-US" sz="1400" dirty="0">
                <a:solidFill>
                  <a:srgbClr val="C9D1D9"/>
                </a:solidFill>
                <a:latin typeface="Calibri" pitchFamily="34" charset="0"/>
                <a:ea typeface="Calibri" pitchFamily="34" charset="-122"/>
                <a:cs typeface="Calibri" pitchFamily="34" charset="-120"/>
              </a:rPr>
              <a:t> — nearly 3× the yield per edit. Point limited review capacity here first.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CAPABILITY 3 — ADJUDICATE &amp; GOVERN</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Deterministic decisions, human-gated rules</a:t>
            </a:r>
            <a:endParaRPr lang="en-US" sz="3200" dirty="0"/>
          </a:p>
        </p:txBody>
      </p:sp>
      <p:sp>
        <p:nvSpPr>
          <p:cNvPr id="4" name="Shape 2"/>
          <p:cNvSpPr/>
          <p:nvPr/>
        </p:nvSpPr>
        <p:spPr>
          <a:xfrm>
            <a:off x="640080" y="1920240"/>
            <a:ext cx="5486400" cy="3840480"/>
          </a:xfrm>
          <a:prstGeom prst="roundRect">
            <a:avLst>
              <a:gd name="adj" fmla="val 1905"/>
            </a:avLst>
          </a:prstGeom>
          <a:solidFill>
            <a:srgbClr val="161B22"/>
          </a:solidFill>
          <a:ln w="12700">
            <a:solidFill>
              <a:srgbClr val="21262D"/>
            </a:solidFill>
            <a:prstDash val="solid"/>
          </a:ln>
        </p:spPr>
        <p:txBody>
          <a:bodyPr/>
          <a:lstStyle/>
          <a:p>
            <a:endParaRPr lang="en-US"/>
          </a:p>
        </p:txBody>
      </p:sp>
      <p:sp>
        <p:nvSpPr>
          <p:cNvPr id="5" name="Text 3"/>
          <p:cNvSpPr/>
          <p:nvPr/>
        </p:nvSpPr>
        <p:spPr>
          <a:xfrm>
            <a:off x="868680" y="2103120"/>
            <a:ext cx="5029200" cy="274320"/>
          </a:xfrm>
          <a:prstGeom prst="rect">
            <a:avLst/>
          </a:prstGeom>
          <a:noFill/>
          <a:ln/>
        </p:spPr>
        <p:txBody>
          <a:bodyPr wrap="square" lIns="0" tIns="0" rIns="0" bIns="0" rtlCol="0" anchor="ctr"/>
          <a:lstStyle/>
          <a:p>
            <a:pPr marL="0" indent="0" algn="l">
              <a:buNone/>
            </a:pPr>
            <a:r>
              <a:rPr lang="en-US" sz="1000" kern="0" spc="100" dirty="0">
                <a:solidFill>
                  <a:srgbClr val="6E7681"/>
                </a:solidFill>
                <a:latin typeface="Consolas" pitchFamily="34" charset="0"/>
                <a:ea typeface="Consolas" pitchFamily="34" charset="-122"/>
                <a:cs typeface="Consolas" pitchFamily="34" charset="-120"/>
              </a:rPr>
              <a:t>ADJUDICATION — NO LLM IN THIS PATH</a:t>
            </a:r>
            <a:endParaRPr lang="en-US" sz="1000" dirty="0"/>
          </a:p>
        </p:txBody>
      </p:sp>
      <p:sp>
        <p:nvSpPr>
          <p:cNvPr id="6" name="Text 4"/>
          <p:cNvSpPr/>
          <p:nvPr/>
        </p:nvSpPr>
        <p:spPr>
          <a:xfrm>
            <a:off x="914400" y="2514600"/>
            <a:ext cx="1097280" cy="365760"/>
          </a:xfrm>
          <a:prstGeom prst="rect">
            <a:avLst/>
          </a:prstGeom>
          <a:noFill/>
          <a:ln/>
        </p:spPr>
        <p:txBody>
          <a:bodyPr wrap="square" lIns="0" tIns="0" rIns="0" bIns="0" rtlCol="0" anchor="ctr"/>
          <a:lstStyle/>
          <a:p>
            <a:pPr marL="0" indent="0" algn="l">
              <a:buNone/>
            </a:pPr>
            <a:r>
              <a:rPr lang="en-US" sz="1500" dirty="0">
                <a:solidFill>
                  <a:srgbClr val="F0F6FC"/>
                </a:solidFill>
                <a:latin typeface="Consolas" pitchFamily="34" charset="0"/>
                <a:ea typeface="Consolas" pitchFamily="34" charset="-122"/>
                <a:cs typeface="Consolas" pitchFamily="34" charset="-120"/>
              </a:rPr>
              <a:t>95907</a:t>
            </a:r>
            <a:endParaRPr lang="en-US" sz="1500" dirty="0"/>
          </a:p>
        </p:txBody>
      </p:sp>
      <p:sp>
        <p:nvSpPr>
          <p:cNvPr id="7" name="Text 5"/>
          <p:cNvSpPr/>
          <p:nvPr/>
        </p:nvSpPr>
        <p:spPr>
          <a:xfrm>
            <a:off x="2011680" y="2514600"/>
            <a:ext cx="914400" cy="365760"/>
          </a:xfrm>
          <a:prstGeom prst="rect">
            <a:avLst/>
          </a:prstGeom>
          <a:noFill/>
          <a:ln/>
        </p:spPr>
        <p:txBody>
          <a:bodyPr wrap="square" lIns="0" tIns="0" rIns="0" bIns="0" rtlCol="0" anchor="ctr"/>
          <a:lstStyle/>
          <a:p>
            <a:pPr marL="0" indent="0" algn="l">
              <a:buNone/>
            </a:pPr>
            <a:r>
              <a:rPr lang="en-US" sz="1400" b="1" dirty="0">
                <a:solidFill>
                  <a:srgbClr val="3FB950"/>
                </a:solidFill>
                <a:latin typeface="Consolas" pitchFamily="34" charset="0"/>
                <a:ea typeface="Consolas" pitchFamily="34" charset="-122"/>
                <a:cs typeface="Consolas" pitchFamily="34" charset="-120"/>
              </a:rPr>
              <a:t>PAY</a:t>
            </a:r>
            <a:endParaRPr lang="en-US" sz="1400" dirty="0"/>
          </a:p>
        </p:txBody>
      </p:sp>
      <p:sp>
        <p:nvSpPr>
          <p:cNvPr id="8" name="Text 6"/>
          <p:cNvSpPr/>
          <p:nvPr/>
        </p:nvSpPr>
        <p:spPr>
          <a:xfrm>
            <a:off x="3017520" y="2514600"/>
            <a:ext cx="2926080" cy="365760"/>
          </a:xfrm>
          <a:prstGeom prst="rect">
            <a:avLst/>
          </a:prstGeom>
          <a:noFill/>
          <a:ln/>
        </p:spPr>
        <p:txBody>
          <a:bodyPr wrap="square" lIns="0" tIns="0" rIns="0" bIns="0" rtlCol="0" anchor="ctr"/>
          <a:lstStyle/>
          <a:p>
            <a:pPr marL="0" indent="0" algn="l">
              <a:buNone/>
            </a:pPr>
            <a:r>
              <a:rPr lang="en-US" sz="1100" dirty="0">
                <a:solidFill>
                  <a:srgbClr val="6E7681"/>
                </a:solidFill>
                <a:latin typeface="Consolas" pitchFamily="34" charset="0"/>
                <a:ea typeface="Consolas" pitchFamily="34" charset="-122"/>
                <a:cs typeface="Consolas" pitchFamily="34" charset="-120"/>
              </a:rPr>
              <a:t>no conflict</a:t>
            </a:r>
            <a:endParaRPr lang="en-US" sz="1100" dirty="0"/>
          </a:p>
        </p:txBody>
      </p:sp>
      <p:sp>
        <p:nvSpPr>
          <p:cNvPr id="9" name="Text 7"/>
          <p:cNvSpPr/>
          <p:nvPr/>
        </p:nvSpPr>
        <p:spPr>
          <a:xfrm>
            <a:off x="914400" y="3172968"/>
            <a:ext cx="1097280" cy="365760"/>
          </a:xfrm>
          <a:prstGeom prst="rect">
            <a:avLst/>
          </a:prstGeom>
          <a:noFill/>
          <a:ln/>
        </p:spPr>
        <p:txBody>
          <a:bodyPr wrap="square" lIns="0" tIns="0" rIns="0" bIns="0" rtlCol="0" anchor="ctr"/>
          <a:lstStyle/>
          <a:p>
            <a:pPr marL="0" indent="0" algn="l">
              <a:buNone/>
            </a:pPr>
            <a:r>
              <a:rPr lang="en-US" sz="1500" dirty="0">
                <a:solidFill>
                  <a:srgbClr val="F0F6FC"/>
                </a:solidFill>
                <a:latin typeface="Consolas" pitchFamily="34" charset="0"/>
                <a:ea typeface="Consolas" pitchFamily="34" charset="-122"/>
                <a:cs typeface="Consolas" pitchFamily="34" charset="-120"/>
              </a:rPr>
              <a:t>95886</a:t>
            </a:r>
            <a:endParaRPr lang="en-US" sz="1500" dirty="0"/>
          </a:p>
        </p:txBody>
      </p:sp>
      <p:sp>
        <p:nvSpPr>
          <p:cNvPr id="10" name="Text 8"/>
          <p:cNvSpPr/>
          <p:nvPr/>
        </p:nvSpPr>
        <p:spPr>
          <a:xfrm>
            <a:off x="2011680" y="3172968"/>
            <a:ext cx="914400" cy="365760"/>
          </a:xfrm>
          <a:prstGeom prst="rect">
            <a:avLst/>
          </a:prstGeom>
          <a:noFill/>
          <a:ln/>
        </p:spPr>
        <p:txBody>
          <a:bodyPr wrap="square" lIns="0" tIns="0" rIns="0" bIns="0" rtlCol="0" anchor="ctr"/>
          <a:lstStyle/>
          <a:p>
            <a:pPr marL="0" indent="0" algn="l">
              <a:buNone/>
            </a:pPr>
            <a:r>
              <a:rPr lang="en-US" sz="1400" b="1" dirty="0">
                <a:solidFill>
                  <a:srgbClr val="F85149"/>
                </a:solidFill>
                <a:latin typeface="Consolas" pitchFamily="34" charset="0"/>
                <a:ea typeface="Consolas" pitchFamily="34" charset="-122"/>
                <a:cs typeface="Consolas" pitchFamily="34" charset="-120"/>
              </a:rPr>
              <a:t>DENY</a:t>
            </a:r>
            <a:endParaRPr lang="en-US" sz="1400" dirty="0"/>
          </a:p>
        </p:txBody>
      </p:sp>
      <p:sp>
        <p:nvSpPr>
          <p:cNvPr id="11" name="Text 9"/>
          <p:cNvSpPr/>
          <p:nvPr/>
        </p:nvSpPr>
        <p:spPr>
          <a:xfrm>
            <a:off x="3017520" y="3172968"/>
            <a:ext cx="2926080" cy="365760"/>
          </a:xfrm>
          <a:prstGeom prst="rect">
            <a:avLst/>
          </a:prstGeom>
          <a:noFill/>
          <a:ln/>
        </p:spPr>
        <p:txBody>
          <a:bodyPr wrap="square" lIns="0" tIns="0" rIns="0" bIns="0" rtlCol="0" anchor="ctr"/>
          <a:lstStyle/>
          <a:p>
            <a:pPr marL="0" indent="0" algn="l">
              <a:buNone/>
            </a:pPr>
            <a:r>
              <a:rPr lang="en-US" sz="1100" dirty="0">
                <a:solidFill>
                  <a:srgbClr val="6E7681"/>
                </a:solidFill>
                <a:latin typeface="Consolas" pitchFamily="34" charset="0"/>
                <a:ea typeface="Consolas" pitchFamily="34" charset="-122"/>
                <a:cs typeface="Consolas" pitchFamily="34" charset="-120"/>
              </a:rPr>
              <a:t>col-2 of 95907/95886</a:t>
            </a:r>
            <a:endParaRPr lang="en-US" sz="1100" dirty="0"/>
          </a:p>
        </p:txBody>
      </p:sp>
      <p:sp>
        <p:nvSpPr>
          <p:cNvPr id="12" name="Text 10"/>
          <p:cNvSpPr/>
          <p:nvPr/>
        </p:nvSpPr>
        <p:spPr>
          <a:xfrm>
            <a:off x="914400" y="3831336"/>
            <a:ext cx="1097280" cy="365760"/>
          </a:xfrm>
          <a:prstGeom prst="rect">
            <a:avLst/>
          </a:prstGeom>
          <a:noFill/>
          <a:ln/>
        </p:spPr>
        <p:txBody>
          <a:bodyPr wrap="square" lIns="0" tIns="0" rIns="0" bIns="0" rtlCol="0" anchor="ctr"/>
          <a:lstStyle/>
          <a:p>
            <a:pPr marL="0" indent="0" algn="l">
              <a:buNone/>
            </a:pPr>
            <a:r>
              <a:rPr lang="en-US" sz="1500" dirty="0">
                <a:solidFill>
                  <a:srgbClr val="F0F6FC"/>
                </a:solidFill>
                <a:latin typeface="Consolas" pitchFamily="34" charset="0"/>
                <a:ea typeface="Consolas" pitchFamily="34" charset="-122"/>
                <a:cs typeface="Consolas" pitchFamily="34" charset="-120"/>
              </a:rPr>
              <a:t>0468U</a:t>
            </a:r>
            <a:endParaRPr lang="en-US" sz="1500" dirty="0"/>
          </a:p>
        </p:txBody>
      </p:sp>
      <p:sp>
        <p:nvSpPr>
          <p:cNvPr id="13" name="Text 11"/>
          <p:cNvSpPr/>
          <p:nvPr/>
        </p:nvSpPr>
        <p:spPr>
          <a:xfrm>
            <a:off x="2011680" y="3831336"/>
            <a:ext cx="914400" cy="365760"/>
          </a:xfrm>
          <a:prstGeom prst="rect">
            <a:avLst/>
          </a:prstGeom>
          <a:noFill/>
          <a:ln/>
        </p:spPr>
        <p:txBody>
          <a:bodyPr wrap="square" lIns="0" tIns="0" rIns="0" bIns="0" rtlCol="0" anchor="ctr"/>
          <a:lstStyle/>
          <a:p>
            <a:pPr marL="0" indent="0" algn="l">
              <a:buNone/>
            </a:pPr>
            <a:r>
              <a:rPr lang="en-US" sz="1400" b="1" dirty="0">
                <a:solidFill>
                  <a:srgbClr val="F85149"/>
                </a:solidFill>
                <a:latin typeface="Consolas" pitchFamily="34" charset="0"/>
                <a:ea typeface="Consolas" pitchFamily="34" charset="-122"/>
                <a:cs typeface="Consolas" pitchFamily="34" charset="-120"/>
              </a:rPr>
              <a:t>DENY</a:t>
            </a:r>
            <a:endParaRPr lang="en-US" sz="1400" dirty="0"/>
          </a:p>
        </p:txBody>
      </p:sp>
      <p:sp>
        <p:nvSpPr>
          <p:cNvPr id="14" name="Text 12"/>
          <p:cNvSpPr/>
          <p:nvPr/>
        </p:nvSpPr>
        <p:spPr>
          <a:xfrm>
            <a:off x="3017520" y="3831336"/>
            <a:ext cx="2926080" cy="365760"/>
          </a:xfrm>
          <a:prstGeom prst="rect">
            <a:avLst/>
          </a:prstGeom>
          <a:noFill/>
          <a:ln/>
        </p:spPr>
        <p:txBody>
          <a:bodyPr wrap="square" lIns="0" tIns="0" rIns="0" bIns="0" rtlCol="0" anchor="ctr"/>
          <a:lstStyle/>
          <a:p>
            <a:pPr marL="0" indent="0" algn="l">
              <a:buNone/>
            </a:pPr>
            <a:r>
              <a:rPr lang="en-US" sz="1100" dirty="0">
                <a:solidFill>
                  <a:srgbClr val="6E7681"/>
                </a:solidFill>
                <a:latin typeface="Consolas" pitchFamily="34" charset="0"/>
                <a:ea typeface="Consolas" pitchFamily="34" charset="-122"/>
                <a:cs typeface="Consolas" pitchFamily="34" charset="-120"/>
              </a:rPr>
              <a:t>col-2 of 0002M/0468U</a:t>
            </a:r>
            <a:endParaRPr lang="en-US" sz="1100" dirty="0"/>
          </a:p>
        </p:txBody>
      </p:sp>
      <p:sp>
        <p:nvSpPr>
          <p:cNvPr id="15" name="Text 13"/>
          <p:cNvSpPr/>
          <p:nvPr/>
        </p:nvSpPr>
        <p:spPr>
          <a:xfrm>
            <a:off x="914400" y="4489704"/>
            <a:ext cx="1097280" cy="365760"/>
          </a:xfrm>
          <a:prstGeom prst="rect">
            <a:avLst/>
          </a:prstGeom>
          <a:noFill/>
          <a:ln/>
        </p:spPr>
        <p:txBody>
          <a:bodyPr wrap="square" lIns="0" tIns="0" rIns="0" bIns="0" rtlCol="0" anchor="ctr"/>
          <a:lstStyle/>
          <a:p>
            <a:pPr marL="0" indent="0" algn="l">
              <a:buNone/>
            </a:pPr>
            <a:r>
              <a:rPr lang="en-US" sz="1500" dirty="0">
                <a:solidFill>
                  <a:srgbClr val="F0F6FC"/>
                </a:solidFill>
                <a:latin typeface="Consolas" pitchFamily="34" charset="0"/>
                <a:ea typeface="Consolas" pitchFamily="34" charset="-122"/>
                <a:cs typeface="Consolas" pitchFamily="34" charset="-120"/>
              </a:rPr>
              <a:t>29881</a:t>
            </a:r>
            <a:endParaRPr lang="en-US" sz="1500" dirty="0"/>
          </a:p>
        </p:txBody>
      </p:sp>
      <p:sp>
        <p:nvSpPr>
          <p:cNvPr id="16" name="Text 14"/>
          <p:cNvSpPr/>
          <p:nvPr/>
        </p:nvSpPr>
        <p:spPr>
          <a:xfrm>
            <a:off x="2011680" y="4489704"/>
            <a:ext cx="914400" cy="365760"/>
          </a:xfrm>
          <a:prstGeom prst="rect">
            <a:avLst/>
          </a:prstGeom>
          <a:noFill/>
          <a:ln/>
        </p:spPr>
        <p:txBody>
          <a:bodyPr wrap="square" lIns="0" tIns="0" rIns="0" bIns="0" rtlCol="0" anchor="ctr"/>
          <a:lstStyle/>
          <a:p>
            <a:pPr marL="0" indent="0" algn="l">
              <a:buNone/>
            </a:pPr>
            <a:r>
              <a:rPr lang="en-US" sz="1400" b="1" dirty="0">
                <a:solidFill>
                  <a:srgbClr val="3FB950"/>
                </a:solidFill>
                <a:latin typeface="Consolas" pitchFamily="34" charset="0"/>
                <a:ea typeface="Consolas" pitchFamily="34" charset="-122"/>
                <a:cs typeface="Consolas" pitchFamily="34" charset="-120"/>
              </a:rPr>
              <a:t>PAY</a:t>
            </a:r>
            <a:endParaRPr lang="en-US" sz="1400" dirty="0"/>
          </a:p>
        </p:txBody>
      </p:sp>
      <p:sp>
        <p:nvSpPr>
          <p:cNvPr id="17" name="Text 15"/>
          <p:cNvSpPr/>
          <p:nvPr/>
        </p:nvSpPr>
        <p:spPr>
          <a:xfrm>
            <a:off x="3017520" y="4489704"/>
            <a:ext cx="2926080" cy="365760"/>
          </a:xfrm>
          <a:prstGeom prst="rect">
            <a:avLst/>
          </a:prstGeom>
          <a:noFill/>
          <a:ln/>
        </p:spPr>
        <p:txBody>
          <a:bodyPr wrap="square" lIns="0" tIns="0" rIns="0" bIns="0" rtlCol="0" anchor="ctr"/>
          <a:lstStyle/>
          <a:p>
            <a:pPr marL="0" indent="0" algn="l">
              <a:buNone/>
            </a:pPr>
            <a:r>
              <a:rPr lang="en-US" sz="1100" dirty="0">
                <a:solidFill>
                  <a:srgbClr val="6E7681"/>
                </a:solidFill>
                <a:latin typeface="Consolas" pitchFamily="34" charset="0"/>
                <a:ea typeface="Consolas" pitchFamily="34" charset="-122"/>
                <a:cs typeface="Consolas" pitchFamily="34" charset="-120"/>
              </a:rPr>
              <a:t>modifier 59 bypass</a:t>
            </a:r>
            <a:endParaRPr lang="en-US" sz="1100" dirty="0"/>
          </a:p>
        </p:txBody>
      </p:sp>
      <p:sp>
        <p:nvSpPr>
          <p:cNvPr id="18" name="Text 16"/>
          <p:cNvSpPr/>
          <p:nvPr/>
        </p:nvSpPr>
        <p:spPr>
          <a:xfrm>
            <a:off x="868680" y="5212080"/>
            <a:ext cx="5029200" cy="457200"/>
          </a:xfrm>
          <a:prstGeom prst="rect">
            <a:avLst/>
          </a:prstGeom>
          <a:noFill/>
          <a:ln/>
        </p:spPr>
        <p:txBody>
          <a:bodyPr wrap="square" lIns="0" tIns="0" rIns="0" bIns="0" rtlCol="0" anchor="ctr"/>
          <a:lstStyle/>
          <a:p>
            <a:pPr marL="0" indent="0" algn="l">
              <a:buNone/>
            </a:pPr>
            <a:r>
              <a:rPr lang="en-US" sz="1250" i="1" dirty="0">
                <a:solidFill>
                  <a:srgbClr val="E3B341"/>
                </a:solidFill>
                <a:latin typeface="Calibri" pitchFamily="34" charset="0"/>
                <a:ea typeface="Calibri" pitchFamily="34" charset="-122"/>
                <a:cs typeface="Calibri" pitchFamily="34" charset="-120"/>
              </a:rPr>
              <a:t>Every denial carries the exact NCCI edit that produced it.</a:t>
            </a:r>
            <a:endParaRPr lang="en-US" sz="1250" dirty="0"/>
          </a:p>
        </p:txBody>
      </p:sp>
      <p:sp>
        <p:nvSpPr>
          <p:cNvPr id="19" name="Shape 17"/>
          <p:cNvSpPr/>
          <p:nvPr/>
        </p:nvSpPr>
        <p:spPr>
          <a:xfrm>
            <a:off x="6355080" y="1920240"/>
            <a:ext cx="5166360" cy="3840480"/>
          </a:xfrm>
          <a:prstGeom prst="roundRect">
            <a:avLst>
              <a:gd name="adj" fmla="val 1905"/>
            </a:avLst>
          </a:prstGeom>
          <a:solidFill>
            <a:srgbClr val="161B22"/>
          </a:solidFill>
          <a:ln w="12700">
            <a:solidFill>
              <a:srgbClr val="21262D"/>
            </a:solidFill>
            <a:prstDash val="solid"/>
          </a:ln>
        </p:spPr>
        <p:txBody>
          <a:bodyPr/>
          <a:lstStyle/>
          <a:p>
            <a:endParaRPr lang="en-US"/>
          </a:p>
        </p:txBody>
      </p:sp>
      <p:sp>
        <p:nvSpPr>
          <p:cNvPr id="20" name="Text 18"/>
          <p:cNvSpPr/>
          <p:nvPr/>
        </p:nvSpPr>
        <p:spPr>
          <a:xfrm>
            <a:off x="6583680" y="2103120"/>
            <a:ext cx="4572000" cy="274320"/>
          </a:xfrm>
          <a:prstGeom prst="rect">
            <a:avLst/>
          </a:prstGeom>
          <a:noFill/>
          <a:ln/>
        </p:spPr>
        <p:txBody>
          <a:bodyPr wrap="square" lIns="0" tIns="0" rIns="0" bIns="0" rtlCol="0" anchor="ctr"/>
          <a:lstStyle/>
          <a:p>
            <a:pPr marL="0" indent="0" algn="l">
              <a:buNone/>
            </a:pPr>
            <a:r>
              <a:rPr lang="en-US" sz="1000" kern="0" spc="100" dirty="0">
                <a:solidFill>
                  <a:srgbClr val="6E7681"/>
                </a:solidFill>
                <a:latin typeface="Consolas" pitchFamily="34" charset="0"/>
                <a:ea typeface="Consolas" pitchFamily="34" charset="-122"/>
                <a:cs typeface="Consolas" pitchFamily="34" charset="-120"/>
              </a:rPr>
              <a:t>GOVERNANCE FLOW</a:t>
            </a:r>
            <a:endParaRPr lang="en-US" sz="1000" dirty="0"/>
          </a:p>
        </p:txBody>
      </p:sp>
      <p:sp>
        <p:nvSpPr>
          <p:cNvPr id="21" name="Shape 19"/>
          <p:cNvSpPr/>
          <p:nvPr/>
        </p:nvSpPr>
        <p:spPr>
          <a:xfrm>
            <a:off x="6583680" y="2514600"/>
            <a:ext cx="4663440" cy="658368"/>
          </a:xfrm>
          <a:prstGeom prst="roundRect">
            <a:avLst>
              <a:gd name="adj" fmla="val 8333"/>
            </a:avLst>
          </a:prstGeom>
          <a:solidFill>
            <a:srgbClr val="161B22"/>
          </a:solidFill>
          <a:ln w="19050">
            <a:solidFill>
              <a:srgbClr val="E3B341"/>
            </a:solidFill>
            <a:prstDash val="solid"/>
          </a:ln>
        </p:spPr>
        <p:txBody>
          <a:bodyPr/>
          <a:lstStyle/>
          <a:p>
            <a:endParaRPr lang="en-US"/>
          </a:p>
        </p:txBody>
      </p:sp>
      <p:sp>
        <p:nvSpPr>
          <p:cNvPr id="22" name="Text 20"/>
          <p:cNvSpPr/>
          <p:nvPr/>
        </p:nvSpPr>
        <p:spPr>
          <a:xfrm>
            <a:off x="6720840" y="2624328"/>
            <a:ext cx="4389120" cy="274320"/>
          </a:xfrm>
          <a:prstGeom prst="rect">
            <a:avLst/>
          </a:prstGeom>
          <a:noFill/>
          <a:ln/>
        </p:spPr>
        <p:txBody>
          <a:bodyPr wrap="square" lIns="0" tIns="0" rIns="0" bIns="0" rtlCol="0" anchor="ctr"/>
          <a:lstStyle/>
          <a:p>
            <a:pPr marL="0" indent="0" algn="ctr">
              <a:buNone/>
            </a:pPr>
            <a:r>
              <a:rPr lang="en-US" sz="1300" b="1" dirty="0">
                <a:solidFill>
                  <a:srgbClr val="E3B341"/>
                </a:solidFill>
                <a:latin typeface="Consolas" pitchFamily="34" charset="0"/>
                <a:ea typeface="Consolas" pitchFamily="34" charset="-122"/>
                <a:cs typeface="Consolas" pitchFamily="34" charset="-120"/>
              </a:rPr>
              <a:t>LLM EXTRACTS</a:t>
            </a:r>
            <a:endParaRPr lang="en-US" sz="1300" dirty="0"/>
          </a:p>
        </p:txBody>
      </p:sp>
      <p:sp>
        <p:nvSpPr>
          <p:cNvPr id="23" name="Text 21"/>
          <p:cNvSpPr/>
          <p:nvPr/>
        </p:nvSpPr>
        <p:spPr>
          <a:xfrm>
            <a:off x="6720840" y="2898648"/>
            <a:ext cx="4389120" cy="237744"/>
          </a:xfrm>
          <a:prstGeom prst="rect">
            <a:avLst/>
          </a:prstGeom>
          <a:noFill/>
          <a:ln/>
        </p:spPr>
        <p:txBody>
          <a:bodyPr wrap="square" lIns="0" tIns="0" rIns="0" bIns="0" rtlCol="0" anchor="ctr"/>
          <a:lstStyle/>
          <a:p>
            <a:pPr marL="0" indent="0" algn="ctr">
              <a:buNone/>
            </a:pPr>
            <a:r>
              <a:rPr lang="en-US" sz="1050" dirty="0">
                <a:solidFill>
                  <a:srgbClr val="C9D1D9"/>
                </a:solidFill>
                <a:latin typeface="Calibri" pitchFamily="34" charset="0"/>
                <a:ea typeface="Calibri" pitchFamily="34" charset="-122"/>
                <a:cs typeface="Calibri" pitchFamily="34" charset="-120"/>
              </a:rPr>
              <a:t>confidence score + citation</a:t>
            </a:r>
            <a:endParaRPr lang="en-US" sz="1050" dirty="0"/>
          </a:p>
        </p:txBody>
      </p:sp>
      <p:sp>
        <p:nvSpPr>
          <p:cNvPr id="24" name="Text 22"/>
          <p:cNvSpPr/>
          <p:nvPr/>
        </p:nvSpPr>
        <p:spPr>
          <a:xfrm>
            <a:off x="8732520" y="3127248"/>
            <a:ext cx="365760" cy="320040"/>
          </a:xfrm>
          <a:prstGeom prst="rect">
            <a:avLst/>
          </a:prstGeom>
          <a:noFill/>
          <a:ln/>
        </p:spPr>
        <p:txBody>
          <a:bodyPr wrap="square" lIns="0" tIns="0" rIns="0" bIns="0" rtlCol="0" anchor="ctr"/>
          <a:lstStyle/>
          <a:p>
            <a:pPr marL="0" indent="0" algn="ctr">
              <a:buNone/>
            </a:pPr>
            <a:r>
              <a:rPr lang="en-US" sz="2000" b="1" dirty="0">
                <a:solidFill>
                  <a:srgbClr val="6E7681"/>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6583680" y="3374136"/>
            <a:ext cx="4663440" cy="658368"/>
          </a:xfrm>
          <a:prstGeom prst="roundRect">
            <a:avLst>
              <a:gd name="adj" fmla="val 8333"/>
            </a:avLst>
          </a:prstGeom>
          <a:solidFill>
            <a:srgbClr val="161B22"/>
          </a:solidFill>
          <a:ln w="19050">
            <a:solidFill>
              <a:srgbClr val="F85149"/>
            </a:solidFill>
            <a:prstDash val="solid"/>
          </a:ln>
        </p:spPr>
        <p:txBody>
          <a:bodyPr/>
          <a:lstStyle/>
          <a:p>
            <a:endParaRPr lang="en-US"/>
          </a:p>
        </p:txBody>
      </p:sp>
      <p:sp>
        <p:nvSpPr>
          <p:cNvPr id="26" name="Text 24"/>
          <p:cNvSpPr/>
          <p:nvPr/>
        </p:nvSpPr>
        <p:spPr>
          <a:xfrm>
            <a:off x="6720840" y="3483864"/>
            <a:ext cx="4389120" cy="274320"/>
          </a:xfrm>
          <a:prstGeom prst="rect">
            <a:avLst/>
          </a:prstGeom>
          <a:noFill/>
          <a:ln/>
        </p:spPr>
        <p:txBody>
          <a:bodyPr wrap="square" lIns="0" tIns="0" rIns="0" bIns="0" rtlCol="0" anchor="ctr"/>
          <a:lstStyle/>
          <a:p>
            <a:pPr marL="0" indent="0" algn="ctr">
              <a:buNone/>
            </a:pPr>
            <a:r>
              <a:rPr lang="en-US" sz="1300" b="1" dirty="0">
                <a:solidFill>
                  <a:srgbClr val="F85149"/>
                </a:solidFill>
                <a:latin typeface="Consolas" pitchFamily="34" charset="0"/>
                <a:ea typeface="Consolas" pitchFamily="34" charset="-122"/>
                <a:cs typeface="Consolas" pitchFamily="34" charset="-120"/>
              </a:rPr>
              <a:t>VALIDATOR</a:t>
            </a:r>
            <a:endParaRPr lang="en-US" sz="1300" dirty="0"/>
          </a:p>
        </p:txBody>
      </p:sp>
      <p:sp>
        <p:nvSpPr>
          <p:cNvPr id="27" name="Text 25"/>
          <p:cNvSpPr/>
          <p:nvPr/>
        </p:nvSpPr>
        <p:spPr>
          <a:xfrm>
            <a:off x="6720840" y="3758184"/>
            <a:ext cx="4389120" cy="237744"/>
          </a:xfrm>
          <a:prstGeom prst="rect">
            <a:avLst/>
          </a:prstGeom>
          <a:noFill/>
          <a:ln/>
        </p:spPr>
        <p:txBody>
          <a:bodyPr wrap="square" lIns="0" tIns="0" rIns="0" bIns="0" rtlCol="0" anchor="ctr"/>
          <a:lstStyle/>
          <a:p>
            <a:pPr marL="0" indent="0" algn="ctr">
              <a:buNone/>
            </a:pPr>
            <a:r>
              <a:rPr lang="en-US" sz="1050" dirty="0">
                <a:solidFill>
                  <a:srgbClr val="C9D1D9"/>
                </a:solidFill>
                <a:latin typeface="Calibri" pitchFamily="34" charset="0"/>
                <a:ea typeface="Calibri" pitchFamily="34" charset="-122"/>
                <a:cs typeface="Calibri" pitchFamily="34" charset="-120"/>
              </a:rPr>
              <a:t>reject hallucinated spans</a:t>
            </a:r>
            <a:endParaRPr lang="en-US" sz="1050" dirty="0"/>
          </a:p>
        </p:txBody>
      </p:sp>
      <p:sp>
        <p:nvSpPr>
          <p:cNvPr id="28" name="Text 26"/>
          <p:cNvSpPr/>
          <p:nvPr/>
        </p:nvSpPr>
        <p:spPr>
          <a:xfrm>
            <a:off x="8732520" y="3986784"/>
            <a:ext cx="365760" cy="320040"/>
          </a:xfrm>
          <a:prstGeom prst="rect">
            <a:avLst/>
          </a:prstGeom>
          <a:noFill/>
          <a:ln/>
        </p:spPr>
        <p:txBody>
          <a:bodyPr wrap="square" lIns="0" tIns="0" rIns="0" bIns="0" rtlCol="0" anchor="ctr"/>
          <a:lstStyle/>
          <a:p>
            <a:pPr marL="0" indent="0" algn="ctr">
              <a:buNone/>
            </a:pPr>
            <a:r>
              <a:rPr lang="en-US" sz="2000" b="1" dirty="0">
                <a:solidFill>
                  <a:srgbClr val="6E7681"/>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6583680" y="4233672"/>
            <a:ext cx="4663440" cy="658368"/>
          </a:xfrm>
          <a:prstGeom prst="roundRect">
            <a:avLst>
              <a:gd name="adj" fmla="val 8333"/>
            </a:avLst>
          </a:prstGeom>
          <a:solidFill>
            <a:srgbClr val="161B22"/>
          </a:solidFill>
          <a:ln w="19050">
            <a:solidFill>
              <a:srgbClr val="58A6FF"/>
            </a:solidFill>
            <a:prstDash val="solid"/>
          </a:ln>
        </p:spPr>
        <p:txBody>
          <a:bodyPr/>
          <a:lstStyle/>
          <a:p>
            <a:endParaRPr lang="en-US"/>
          </a:p>
        </p:txBody>
      </p:sp>
      <p:sp>
        <p:nvSpPr>
          <p:cNvPr id="30" name="Text 28"/>
          <p:cNvSpPr/>
          <p:nvPr/>
        </p:nvSpPr>
        <p:spPr>
          <a:xfrm>
            <a:off x="6720840" y="4343400"/>
            <a:ext cx="4389120" cy="274320"/>
          </a:xfrm>
          <a:prstGeom prst="rect">
            <a:avLst/>
          </a:prstGeom>
          <a:noFill/>
          <a:ln/>
        </p:spPr>
        <p:txBody>
          <a:bodyPr wrap="square" lIns="0" tIns="0" rIns="0" bIns="0" rtlCol="0" anchor="ctr"/>
          <a:lstStyle/>
          <a:p>
            <a:pPr marL="0" indent="0" algn="ctr">
              <a:buNone/>
            </a:pPr>
            <a:r>
              <a:rPr lang="en-US" sz="1300" b="1" dirty="0">
                <a:solidFill>
                  <a:srgbClr val="58A6FF"/>
                </a:solidFill>
                <a:latin typeface="Consolas" pitchFamily="34" charset="0"/>
                <a:ea typeface="Consolas" pitchFamily="34" charset="-122"/>
                <a:cs typeface="Consolas" pitchFamily="34" charset="-120"/>
              </a:rPr>
              <a:t>REVIEW QUEUE</a:t>
            </a:r>
            <a:endParaRPr lang="en-US" sz="1300" dirty="0"/>
          </a:p>
        </p:txBody>
      </p:sp>
      <p:sp>
        <p:nvSpPr>
          <p:cNvPr id="31" name="Text 29"/>
          <p:cNvSpPr/>
          <p:nvPr/>
        </p:nvSpPr>
        <p:spPr>
          <a:xfrm>
            <a:off x="6720840" y="4617720"/>
            <a:ext cx="4389120" cy="237744"/>
          </a:xfrm>
          <a:prstGeom prst="rect">
            <a:avLst/>
          </a:prstGeom>
          <a:noFill/>
          <a:ln/>
        </p:spPr>
        <p:txBody>
          <a:bodyPr wrap="square" lIns="0" tIns="0" rIns="0" bIns="0" rtlCol="0" anchor="ctr"/>
          <a:lstStyle/>
          <a:p>
            <a:pPr marL="0" indent="0" algn="ctr">
              <a:buNone/>
            </a:pPr>
            <a:r>
              <a:rPr lang="en-US" sz="1050" dirty="0">
                <a:solidFill>
                  <a:srgbClr val="C9D1D9"/>
                </a:solidFill>
                <a:latin typeface="Calibri" pitchFamily="34" charset="0"/>
                <a:ea typeface="Calibri" pitchFamily="34" charset="-122"/>
                <a:cs typeface="Calibri" pitchFamily="34" charset="-120"/>
              </a:rPr>
              <a:t>human approves or rejects</a:t>
            </a:r>
            <a:endParaRPr lang="en-US" sz="1050" dirty="0"/>
          </a:p>
        </p:txBody>
      </p:sp>
      <p:sp>
        <p:nvSpPr>
          <p:cNvPr id="32" name="Text 30"/>
          <p:cNvSpPr/>
          <p:nvPr/>
        </p:nvSpPr>
        <p:spPr>
          <a:xfrm>
            <a:off x="8732520" y="4846320"/>
            <a:ext cx="365760" cy="320040"/>
          </a:xfrm>
          <a:prstGeom prst="rect">
            <a:avLst/>
          </a:prstGeom>
          <a:noFill/>
          <a:ln/>
        </p:spPr>
        <p:txBody>
          <a:bodyPr wrap="square" lIns="0" tIns="0" rIns="0" bIns="0" rtlCol="0" anchor="ctr"/>
          <a:lstStyle/>
          <a:p>
            <a:pPr marL="0" indent="0" algn="ctr">
              <a:buNone/>
            </a:pPr>
            <a:r>
              <a:rPr lang="en-US" sz="2000" b="1" dirty="0">
                <a:solidFill>
                  <a:srgbClr val="6E7681"/>
                </a:solidFill>
                <a:latin typeface="Calibri" pitchFamily="34" charset="0"/>
                <a:ea typeface="Calibri" pitchFamily="34" charset="-122"/>
                <a:cs typeface="Calibri" pitchFamily="34" charset="-120"/>
              </a:rPr>
              <a:t>↓</a:t>
            </a:r>
            <a:endParaRPr lang="en-US" sz="2000" dirty="0"/>
          </a:p>
        </p:txBody>
      </p:sp>
      <p:sp>
        <p:nvSpPr>
          <p:cNvPr id="33" name="Shape 31"/>
          <p:cNvSpPr/>
          <p:nvPr/>
        </p:nvSpPr>
        <p:spPr>
          <a:xfrm>
            <a:off x="6583680" y="5093208"/>
            <a:ext cx="4663440" cy="658368"/>
          </a:xfrm>
          <a:prstGeom prst="roundRect">
            <a:avLst>
              <a:gd name="adj" fmla="val 8333"/>
            </a:avLst>
          </a:prstGeom>
          <a:solidFill>
            <a:srgbClr val="161B22"/>
          </a:solidFill>
          <a:ln w="19050">
            <a:solidFill>
              <a:srgbClr val="3FB950"/>
            </a:solidFill>
            <a:prstDash val="solid"/>
          </a:ln>
        </p:spPr>
        <p:txBody>
          <a:bodyPr/>
          <a:lstStyle/>
          <a:p>
            <a:endParaRPr lang="en-US"/>
          </a:p>
        </p:txBody>
      </p:sp>
      <p:sp>
        <p:nvSpPr>
          <p:cNvPr id="34" name="Text 32"/>
          <p:cNvSpPr/>
          <p:nvPr/>
        </p:nvSpPr>
        <p:spPr>
          <a:xfrm>
            <a:off x="6720840" y="5202936"/>
            <a:ext cx="4389120" cy="274320"/>
          </a:xfrm>
          <a:prstGeom prst="rect">
            <a:avLst/>
          </a:prstGeom>
          <a:noFill/>
          <a:ln/>
        </p:spPr>
        <p:txBody>
          <a:bodyPr wrap="square" lIns="0" tIns="0" rIns="0" bIns="0" rtlCol="0" anchor="ctr"/>
          <a:lstStyle/>
          <a:p>
            <a:pPr marL="0" indent="0" algn="ctr">
              <a:buNone/>
            </a:pPr>
            <a:r>
              <a:rPr lang="en-US" sz="1300" b="1" dirty="0">
                <a:solidFill>
                  <a:srgbClr val="3FB950"/>
                </a:solidFill>
                <a:latin typeface="Consolas" pitchFamily="34" charset="0"/>
                <a:ea typeface="Consolas" pitchFamily="34" charset="-122"/>
                <a:cs typeface="Consolas" pitchFamily="34" charset="-120"/>
              </a:rPr>
              <a:t>COMPILE &amp; RUN</a:t>
            </a:r>
            <a:endParaRPr lang="en-US" sz="1300" dirty="0"/>
          </a:p>
        </p:txBody>
      </p:sp>
      <p:sp>
        <p:nvSpPr>
          <p:cNvPr id="35" name="Text 33"/>
          <p:cNvSpPr/>
          <p:nvPr/>
        </p:nvSpPr>
        <p:spPr>
          <a:xfrm>
            <a:off x="6720840" y="5477256"/>
            <a:ext cx="4389120" cy="237744"/>
          </a:xfrm>
          <a:prstGeom prst="rect">
            <a:avLst/>
          </a:prstGeom>
          <a:noFill/>
          <a:ln/>
        </p:spPr>
        <p:txBody>
          <a:bodyPr wrap="square" lIns="0" tIns="0" rIns="0" bIns="0" rtlCol="0" anchor="ctr"/>
          <a:lstStyle/>
          <a:p>
            <a:pPr marL="0" indent="0" algn="ctr">
              <a:buNone/>
            </a:pPr>
            <a:r>
              <a:rPr lang="en-US" sz="1050" dirty="0">
                <a:solidFill>
                  <a:srgbClr val="C9D1D9"/>
                </a:solidFill>
                <a:latin typeface="Calibri" pitchFamily="34" charset="0"/>
                <a:ea typeface="Calibri" pitchFamily="34" charset="-122"/>
                <a:cs typeface="Calibri" pitchFamily="34" charset="-120"/>
              </a:rPr>
              <a:t>only approved rules execute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ANALYSIS</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Opportunities &amp; threats</a:t>
            </a:r>
            <a:endParaRPr lang="en-US" sz="3200" dirty="0"/>
          </a:p>
        </p:txBody>
      </p:sp>
      <p:sp>
        <p:nvSpPr>
          <p:cNvPr id="4" name="Shape 2"/>
          <p:cNvSpPr/>
          <p:nvPr/>
        </p:nvSpPr>
        <p:spPr>
          <a:xfrm>
            <a:off x="640080" y="1920240"/>
            <a:ext cx="5349240" cy="3931920"/>
          </a:xfrm>
          <a:prstGeom prst="roundRect">
            <a:avLst>
              <a:gd name="adj" fmla="val 1860"/>
            </a:avLst>
          </a:prstGeom>
          <a:solidFill>
            <a:srgbClr val="161B22"/>
          </a:solidFill>
          <a:ln w="12700">
            <a:solidFill>
              <a:srgbClr val="21262D"/>
            </a:solidFill>
            <a:prstDash val="solid"/>
          </a:ln>
        </p:spPr>
        <p:txBody>
          <a:bodyPr/>
          <a:lstStyle/>
          <a:p>
            <a:endParaRPr lang="en-US"/>
          </a:p>
        </p:txBody>
      </p:sp>
      <p:sp>
        <p:nvSpPr>
          <p:cNvPr id="5" name="Text 3"/>
          <p:cNvSpPr/>
          <p:nvPr/>
        </p:nvSpPr>
        <p:spPr>
          <a:xfrm>
            <a:off x="914400" y="2148840"/>
            <a:ext cx="4572000" cy="365760"/>
          </a:xfrm>
          <a:prstGeom prst="rect">
            <a:avLst/>
          </a:prstGeom>
          <a:noFill/>
          <a:ln/>
        </p:spPr>
        <p:txBody>
          <a:bodyPr wrap="square" lIns="0" tIns="0" rIns="0" bIns="0" rtlCol="0" anchor="ctr"/>
          <a:lstStyle/>
          <a:p>
            <a:pPr marL="0" indent="0" algn="l">
              <a:buNone/>
            </a:pPr>
            <a:r>
              <a:rPr lang="en-US" sz="1300" b="1" kern="0" spc="100" dirty="0">
                <a:solidFill>
                  <a:srgbClr val="3FB950"/>
                </a:solidFill>
                <a:latin typeface="Consolas" pitchFamily="34" charset="0"/>
                <a:ea typeface="Consolas" pitchFamily="34" charset="-122"/>
                <a:cs typeface="Consolas" pitchFamily="34" charset="-120"/>
              </a:rPr>
              <a:t>OPPORTUNITIES</a:t>
            </a:r>
            <a:endParaRPr lang="en-US" sz="1300" dirty="0"/>
          </a:p>
        </p:txBody>
      </p:sp>
      <p:sp>
        <p:nvSpPr>
          <p:cNvPr id="6" name="Text 4"/>
          <p:cNvSpPr/>
          <p:nvPr/>
        </p:nvSpPr>
        <p:spPr>
          <a:xfrm>
            <a:off x="914400" y="2697480"/>
            <a:ext cx="4846320" cy="640080"/>
          </a:xfrm>
          <a:prstGeom prst="rect">
            <a:avLst/>
          </a:prstGeom>
          <a:noFill/>
          <a:ln/>
        </p:spPr>
        <p:txBody>
          <a:bodyPr wrap="square" lIns="0" tIns="0" rIns="0" bIns="0" rtlCol="0" anchor="ctr"/>
          <a:lstStyle/>
          <a:p>
            <a:pPr marL="0" indent="0" algn="l">
              <a:lnSpc>
                <a:spcPct val="110000"/>
              </a:lnSpc>
              <a:buNone/>
            </a:pPr>
            <a:r>
              <a:rPr lang="en-US" sz="1400" dirty="0">
                <a:solidFill>
                  <a:srgbClr val="3FB950"/>
                </a:solidFill>
                <a:latin typeface="Calibri" pitchFamily="34" charset="0"/>
                <a:ea typeface="Calibri" pitchFamily="34" charset="-122"/>
                <a:cs typeface="Calibri" pitchFamily="34" charset="-120"/>
              </a:rPr>
              <a:t>▸  </a:t>
            </a:r>
            <a:r>
              <a:rPr lang="en-US" sz="1400" dirty="0">
                <a:solidFill>
                  <a:srgbClr val="C9D1D9"/>
                </a:solidFill>
                <a:latin typeface="Calibri" pitchFamily="34" charset="0"/>
                <a:ea typeface="Calibri" pitchFamily="34" charset="-122"/>
                <a:cs typeface="Calibri" pitchFamily="34" charset="-120"/>
              </a:rPr>
              <a:t>Policy-to-rule cycle from weeks to days</a:t>
            </a:r>
            <a:endParaRPr lang="en-US" sz="1400" dirty="0"/>
          </a:p>
        </p:txBody>
      </p:sp>
      <p:sp>
        <p:nvSpPr>
          <p:cNvPr id="7" name="Text 5"/>
          <p:cNvSpPr/>
          <p:nvPr/>
        </p:nvSpPr>
        <p:spPr>
          <a:xfrm>
            <a:off x="914400" y="3447288"/>
            <a:ext cx="4846320" cy="640080"/>
          </a:xfrm>
          <a:prstGeom prst="rect">
            <a:avLst/>
          </a:prstGeom>
          <a:noFill/>
          <a:ln/>
        </p:spPr>
        <p:txBody>
          <a:bodyPr wrap="square" lIns="0" tIns="0" rIns="0" bIns="0" rtlCol="0" anchor="ctr"/>
          <a:lstStyle/>
          <a:p>
            <a:pPr marL="0" indent="0" algn="l">
              <a:lnSpc>
                <a:spcPct val="110000"/>
              </a:lnSpc>
              <a:buNone/>
            </a:pPr>
            <a:r>
              <a:rPr lang="en-US" sz="1400" dirty="0">
                <a:solidFill>
                  <a:srgbClr val="3FB950"/>
                </a:solidFill>
                <a:latin typeface="Calibri" pitchFamily="34" charset="0"/>
                <a:ea typeface="Calibri" pitchFamily="34" charset="-122"/>
                <a:cs typeface="Calibri" pitchFamily="34" charset="-120"/>
              </a:rPr>
              <a:t>▸  </a:t>
            </a:r>
            <a:r>
              <a:rPr lang="en-US" sz="1400" dirty="0">
                <a:solidFill>
                  <a:srgbClr val="C9D1D9"/>
                </a:solidFill>
                <a:latin typeface="Calibri" pitchFamily="34" charset="0"/>
                <a:ea typeface="Calibri" pitchFamily="34" charset="-122"/>
                <a:cs typeface="Calibri" pitchFamily="34" charset="-120"/>
              </a:rPr>
              <a:t>Automatic quarterly diff + impact forecast</a:t>
            </a:r>
            <a:endParaRPr lang="en-US" sz="1400" dirty="0"/>
          </a:p>
        </p:txBody>
      </p:sp>
      <p:sp>
        <p:nvSpPr>
          <p:cNvPr id="8" name="Text 6"/>
          <p:cNvSpPr/>
          <p:nvPr/>
        </p:nvSpPr>
        <p:spPr>
          <a:xfrm>
            <a:off x="914400" y="4197096"/>
            <a:ext cx="4846320" cy="640080"/>
          </a:xfrm>
          <a:prstGeom prst="rect">
            <a:avLst/>
          </a:prstGeom>
          <a:noFill/>
          <a:ln/>
        </p:spPr>
        <p:txBody>
          <a:bodyPr wrap="square" lIns="0" tIns="0" rIns="0" bIns="0" rtlCol="0" anchor="ctr"/>
          <a:lstStyle/>
          <a:p>
            <a:pPr marL="0" indent="0" algn="l">
              <a:lnSpc>
                <a:spcPct val="110000"/>
              </a:lnSpc>
              <a:buNone/>
            </a:pPr>
            <a:r>
              <a:rPr lang="en-US" sz="1400" dirty="0">
                <a:solidFill>
                  <a:srgbClr val="3FB950"/>
                </a:solidFill>
                <a:latin typeface="Calibri" pitchFamily="34" charset="0"/>
                <a:ea typeface="Calibri" pitchFamily="34" charset="-122"/>
                <a:cs typeface="Calibri" pitchFamily="34" charset="-120"/>
              </a:rPr>
              <a:t>▸  </a:t>
            </a:r>
            <a:r>
              <a:rPr lang="en-US" sz="1400" dirty="0">
                <a:solidFill>
                  <a:srgbClr val="C9D1D9"/>
                </a:solidFill>
                <a:latin typeface="Calibri" pitchFamily="34" charset="0"/>
                <a:ea typeface="Calibri" pitchFamily="34" charset="-122"/>
                <a:cs typeface="Calibri" pitchFamily="34" charset="-120"/>
              </a:rPr>
              <a:t>Audit-grade citation for every denial</a:t>
            </a:r>
            <a:endParaRPr lang="en-US" sz="1400" dirty="0"/>
          </a:p>
        </p:txBody>
      </p:sp>
      <p:sp>
        <p:nvSpPr>
          <p:cNvPr id="9" name="Text 7"/>
          <p:cNvSpPr/>
          <p:nvPr/>
        </p:nvSpPr>
        <p:spPr>
          <a:xfrm>
            <a:off x="914400" y="4946904"/>
            <a:ext cx="4846320" cy="640080"/>
          </a:xfrm>
          <a:prstGeom prst="rect">
            <a:avLst/>
          </a:prstGeom>
          <a:noFill/>
          <a:ln/>
        </p:spPr>
        <p:txBody>
          <a:bodyPr wrap="square" lIns="0" tIns="0" rIns="0" bIns="0" rtlCol="0" anchor="ctr"/>
          <a:lstStyle/>
          <a:p>
            <a:pPr marL="0" indent="0" algn="l">
              <a:lnSpc>
                <a:spcPct val="110000"/>
              </a:lnSpc>
              <a:buNone/>
            </a:pPr>
            <a:r>
              <a:rPr lang="en-US" sz="1400" dirty="0">
                <a:solidFill>
                  <a:srgbClr val="3FB950"/>
                </a:solidFill>
                <a:latin typeface="Calibri" pitchFamily="34" charset="0"/>
                <a:ea typeface="Calibri" pitchFamily="34" charset="-122"/>
                <a:cs typeface="Calibri" pitchFamily="34" charset="-120"/>
              </a:rPr>
              <a:t>▸  </a:t>
            </a:r>
            <a:r>
              <a:rPr lang="en-US" sz="1400" dirty="0">
                <a:solidFill>
                  <a:srgbClr val="C9D1D9"/>
                </a:solidFill>
                <a:latin typeface="Calibri" pitchFamily="34" charset="0"/>
                <a:ea typeface="Calibri" pitchFamily="34" charset="-122"/>
                <a:cs typeface="Calibri" pitchFamily="34" charset="-120"/>
              </a:rPr>
              <a:t>Reusable across prepay edits &amp; prior-auth</a:t>
            </a:r>
            <a:endParaRPr lang="en-US" sz="1400" dirty="0"/>
          </a:p>
        </p:txBody>
      </p:sp>
      <p:sp>
        <p:nvSpPr>
          <p:cNvPr id="10" name="Shape 8"/>
          <p:cNvSpPr/>
          <p:nvPr/>
        </p:nvSpPr>
        <p:spPr>
          <a:xfrm>
            <a:off x="6537960" y="1920240"/>
            <a:ext cx="4983480" cy="3931920"/>
          </a:xfrm>
          <a:prstGeom prst="roundRect">
            <a:avLst>
              <a:gd name="adj" fmla="val 1860"/>
            </a:avLst>
          </a:prstGeom>
          <a:solidFill>
            <a:srgbClr val="161B22"/>
          </a:solidFill>
          <a:ln w="12700">
            <a:solidFill>
              <a:srgbClr val="21262D"/>
            </a:solidFill>
            <a:prstDash val="solid"/>
          </a:ln>
        </p:spPr>
        <p:txBody>
          <a:bodyPr/>
          <a:lstStyle/>
          <a:p>
            <a:endParaRPr lang="en-US"/>
          </a:p>
        </p:txBody>
      </p:sp>
      <p:sp>
        <p:nvSpPr>
          <p:cNvPr id="11" name="Text 9"/>
          <p:cNvSpPr/>
          <p:nvPr/>
        </p:nvSpPr>
        <p:spPr>
          <a:xfrm>
            <a:off x="6812280" y="2148840"/>
            <a:ext cx="4572000" cy="365760"/>
          </a:xfrm>
          <a:prstGeom prst="rect">
            <a:avLst/>
          </a:prstGeom>
          <a:noFill/>
          <a:ln/>
        </p:spPr>
        <p:txBody>
          <a:bodyPr wrap="square" lIns="0" tIns="0" rIns="0" bIns="0" rtlCol="0" anchor="ctr"/>
          <a:lstStyle/>
          <a:p>
            <a:pPr marL="0" indent="0" algn="l">
              <a:buNone/>
            </a:pPr>
            <a:r>
              <a:rPr lang="en-US" sz="1300" b="1" kern="0" spc="100" dirty="0">
                <a:solidFill>
                  <a:srgbClr val="F85149"/>
                </a:solidFill>
                <a:latin typeface="Consolas" pitchFamily="34" charset="0"/>
                <a:ea typeface="Consolas" pitchFamily="34" charset="-122"/>
                <a:cs typeface="Consolas" pitchFamily="34" charset="-120"/>
              </a:rPr>
              <a:t>THREATS</a:t>
            </a:r>
            <a:endParaRPr lang="en-US" sz="1300" dirty="0"/>
          </a:p>
        </p:txBody>
      </p:sp>
      <p:sp>
        <p:nvSpPr>
          <p:cNvPr id="12" name="Text 10"/>
          <p:cNvSpPr/>
          <p:nvPr/>
        </p:nvSpPr>
        <p:spPr>
          <a:xfrm>
            <a:off x="6812280" y="2697480"/>
            <a:ext cx="4480560" cy="640080"/>
          </a:xfrm>
          <a:prstGeom prst="rect">
            <a:avLst/>
          </a:prstGeom>
          <a:noFill/>
          <a:ln/>
        </p:spPr>
        <p:txBody>
          <a:bodyPr wrap="square" lIns="0" tIns="0" rIns="0" bIns="0" rtlCol="0" anchor="ctr"/>
          <a:lstStyle/>
          <a:p>
            <a:pPr marL="0" indent="0" algn="l">
              <a:lnSpc>
                <a:spcPct val="110000"/>
              </a:lnSpc>
              <a:buNone/>
            </a:pPr>
            <a:r>
              <a:rPr lang="en-US" sz="1400" dirty="0">
                <a:solidFill>
                  <a:srgbClr val="F85149"/>
                </a:solidFill>
                <a:latin typeface="Calibri" pitchFamily="34" charset="0"/>
                <a:ea typeface="Calibri" pitchFamily="34" charset="-122"/>
                <a:cs typeface="Calibri" pitchFamily="34" charset="-120"/>
              </a:rPr>
              <a:t>▸  </a:t>
            </a:r>
            <a:r>
              <a:rPr lang="en-US" sz="1400" dirty="0">
                <a:solidFill>
                  <a:srgbClr val="C9D1D9"/>
                </a:solidFill>
                <a:latin typeface="Calibri" pitchFamily="34" charset="0"/>
                <a:ea typeface="Calibri" pitchFamily="34" charset="-122"/>
                <a:cs typeface="Calibri" pitchFamily="34" charset="-120"/>
              </a:rPr>
              <a:t>Hallucinated rules → wrong denials</a:t>
            </a:r>
            <a:endParaRPr lang="en-US" sz="1400" dirty="0"/>
          </a:p>
        </p:txBody>
      </p:sp>
      <p:sp>
        <p:nvSpPr>
          <p:cNvPr id="13" name="Text 11"/>
          <p:cNvSpPr/>
          <p:nvPr/>
        </p:nvSpPr>
        <p:spPr>
          <a:xfrm>
            <a:off x="6812280" y="3447288"/>
            <a:ext cx="4480560" cy="640080"/>
          </a:xfrm>
          <a:prstGeom prst="rect">
            <a:avLst/>
          </a:prstGeom>
          <a:noFill/>
          <a:ln/>
        </p:spPr>
        <p:txBody>
          <a:bodyPr wrap="square" lIns="0" tIns="0" rIns="0" bIns="0" rtlCol="0" anchor="ctr"/>
          <a:lstStyle/>
          <a:p>
            <a:pPr marL="0" indent="0" algn="l">
              <a:lnSpc>
                <a:spcPct val="110000"/>
              </a:lnSpc>
              <a:buNone/>
            </a:pPr>
            <a:r>
              <a:rPr lang="en-US" sz="1400" dirty="0">
                <a:solidFill>
                  <a:srgbClr val="F85149"/>
                </a:solidFill>
                <a:latin typeface="Calibri" pitchFamily="34" charset="0"/>
                <a:ea typeface="Calibri" pitchFamily="34" charset="-122"/>
                <a:cs typeface="Calibri" pitchFamily="34" charset="-120"/>
              </a:rPr>
              <a:t>▸  </a:t>
            </a:r>
            <a:r>
              <a:rPr lang="en-US" sz="1400" dirty="0">
                <a:solidFill>
                  <a:srgbClr val="C9D1D9"/>
                </a:solidFill>
                <a:latin typeface="Calibri" pitchFamily="34" charset="0"/>
                <a:ea typeface="Calibri" pitchFamily="34" charset="-122"/>
                <a:cs typeface="Calibri" pitchFamily="34" charset="-120"/>
              </a:rPr>
              <a:t>AI-in-coverage litigation &amp; state law</a:t>
            </a:r>
            <a:endParaRPr lang="en-US" sz="1400" dirty="0"/>
          </a:p>
        </p:txBody>
      </p:sp>
      <p:sp>
        <p:nvSpPr>
          <p:cNvPr id="14" name="Text 12"/>
          <p:cNvSpPr/>
          <p:nvPr/>
        </p:nvSpPr>
        <p:spPr>
          <a:xfrm>
            <a:off x="6812280" y="4197096"/>
            <a:ext cx="4480560" cy="640080"/>
          </a:xfrm>
          <a:prstGeom prst="rect">
            <a:avLst/>
          </a:prstGeom>
          <a:noFill/>
          <a:ln/>
        </p:spPr>
        <p:txBody>
          <a:bodyPr wrap="square" lIns="0" tIns="0" rIns="0" bIns="0" rtlCol="0" anchor="ctr"/>
          <a:lstStyle/>
          <a:p>
            <a:pPr marL="0" indent="0" algn="l">
              <a:lnSpc>
                <a:spcPct val="110000"/>
              </a:lnSpc>
              <a:buNone/>
            </a:pPr>
            <a:r>
              <a:rPr lang="en-US" sz="1400" dirty="0">
                <a:solidFill>
                  <a:srgbClr val="F85149"/>
                </a:solidFill>
                <a:latin typeface="Calibri" pitchFamily="34" charset="0"/>
                <a:ea typeface="Calibri" pitchFamily="34" charset="-122"/>
                <a:cs typeface="Calibri" pitchFamily="34" charset="-120"/>
              </a:rPr>
              <a:t>▸  </a:t>
            </a:r>
            <a:r>
              <a:rPr lang="en-US" sz="1400" dirty="0">
                <a:solidFill>
                  <a:srgbClr val="C9D1D9"/>
                </a:solidFill>
                <a:latin typeface="Calibri" pitchFamily="34" charset="0"/>
                <a:ea typeface="Calibri" pitchFamily="34" charset="-122"/>
                <a:cs typeface="Calibri" pitchFamily="34" charset="-120"/>
              </a:rPr>
              <a:t>AMA CPT proprietary content licensing</a:t>
            </a:r>
            <a:endParaRPr lang="en-US" sz="1400" dirty="0"/>
          </a:p>
        </p:txBody>
      </p:sp>
      <p:sp>
        <p:nvSpPr>
          <p:cNvPr id="15" name="Text 13"/>
          <p:cNvSpPr/>
          <p:nvPr/>
        </p:nvSpPr>
        <p:spPr>
          <a:xfrm>
            <a:off x="6812280" y="4946904"/>
            <a:ext cx="4480560" cy="640080"/>
          </a:xfrm>
          <a:prstGeom prst="rect">
            <a:avLst/>
          </a:prstGeom>
          <a:noFill/>
          <a:ln/>
        </p:spPr>
        <p:txBody>
          <a:bodyPr wrap="square" lIns="0" tIns="0" rIns="0" bIns="0" rtlCol="0" anchor="ctr"/>
          <a:lstStyle/>
          <a:p>
            <a:pPr marL="0" indent="0" algn="l">
              <a:lnSpc>
                <a:spcPct val="110000"/>
              </a:lnSpc>
              <a:buNone/>
            </a:pPr>
            <a:r>
              <a:rPr lang="en-US" sz="1400" dirty="0">
                <a:solidFill>
                  <a:srgbClr val="F85149"/>
                </a:solidFill>
                <a:latin typeface="Calibri" pitchFamily="34" charset="0"/>
                <a:ea typeface="Calibri" pitchFamily="34" charset="-122"/>
                <a:cs typeface="Calibri" pitchFamily="34" charset="-120"/>
              </a:rPr>
              <a:t>▸  </a:t>
            </a:r>
            <a:r>
              <a:rPr lang="en-US" sz="1400" dirty="0">
                <a:solidFill>
                  <a:srgbClr val="C9D1D9"/>
                </a:solidFill>
                <a:latin typeface="Calibri" pitchFamily="34" charset="0"/>
                <a:ea typeface="Calibri" pitchFamily="34" charset="-122"/>
                <a:cs typeface="Calibri" pitchFamily="34" charset="-120"/>
              </a:rPr>
              <a:t>Model drift vs. policy version mismatch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marL="0" indent="0" algn="l">
              <a:buNone/>
            </a:pPr>
            <a:r>
              <a:rPr lang="en-US" sz="1100" kern="0" spc="200" dirty="0">
                <a:solidFill>
                  <a:srgbClr val="E3B341"/>
                </a:solidFill>
                <a:latin typeface="Consolas" pitchFamily="34" charset="0"/>
                <a:ea typeface="Consolas" pitchFamily="34" charset="-122"/>
                <a:cs typeface="Consolas" pitchFamily="34" charset="-120"/>
              </a:rPr>
              <a:t>RECOMMENDATION FOR COTIVITI</a:t>
            </a:r>
            <a:endParaRPr lang="en-US" sz="1100" dirty="0"/>
          </a:p>
        </p:txBody>
      </p:sp>
      <p:sp>
        <p:nvSpPr>
          <p:cNvPr id="3" name="Text 1"/>
          <p:cNvSpPr/>
          <p:nvPr/>
        </p:nvSpPr>
        <p:spPr>
          <a:xfrm>
            <a:off x="640080" y="868680"/>
            <a:ext cx="10881360" cy="914400"/>
          </a:xfrm>
          <a:prstGeom prst="rect">
            <a:avLst/>
          </a:prstGeom>
          <a:noFill/>
          <a:ln/>
        </p:spPr>
        <p:txBody>
          <a:bodyPr wrap="square" rtlCol="0" anchor="ctr"/>
          <a:lstStyle/>
          <a:p>
            <a:pPr marL="0" indent="0" algn="l">
              <a:buNone/>
            </a:pPr>
            <a:r>
              <a:rPr lang="en-US" sz="3200" b="1" dirty="0">
                <a:solidFill>
                  <a:srgbClr val="F0F6FC"/>
                </a:solidFill>
                <a:latin typeface="Cambria" pitchFamily="34" charset="0"/>
                <a:ea typeface="Cambria" pitchFamily="34" charset="-122"/>
                <a:cs typeface="Cambria" pitchFamily="34" charset="-120"/>
              </a:rPr>
              <a:t>A staged path: copilot first, moat second</a:t>
            </a:r>
            <a:endParaRPr lang="en-US" sz="3200" dirty="0"/>
          </a:p>
        </p:txBody>
      </p:sp>
      <p:sp>
        <p:nvSpPr>
          <p:cNvPr id="4" name="Shape 2"/>
          <p:cNvSpPr/>
          <p:nvPr/>
        </p:nvSpPr>
        <p:spPr>
          <a:xfrm>
            <a:off x="640080" y="1920240"/>
            <a:ext cx="5212080" cy="3291840"/>
          </a:xfrm>
          <a:prstGeom prst="roundRect">
            <a:avLst>
              <a:gd name="adj" fmla="val 2222"/>
            </a:avLst>
          </a:prstGeom>
          <a:solidFill>
            <a:srgbClr val="161B22"/>
          </a:solidFill>
          <a:ln w="12700">
            <a:solidFill>
              <a:srgbClr val="21262D"/>
            </a:solidFill>
            <a:prstDash val="solid"/>
          </a:ln>
        </p:spPr>
        <p:txBody>
          <a:bodyPr/>
          <a:lstStyle/>
          <a:p>
            <a:endParaRPr lang="en-US"/>
          </a:p>
        </p:txBody>
      </p:sp>
      <p:sp>
        <p:nvSpPr>
          <p:cNvPr id="5" name="Text 3"/>
          <p:cNvSpPr/>
          <p:nvPr/>
        </p:nvSpPr>
        <p:spPr>
          <a:xfrm>
            <a:off x="914400" y="2148840"/>
            <a:ext cx="822960" cy="822960"/>
          </a:xfrm>
          <a:prstGeom prst="rect">
            <a:avLst/>
          </a:prstGeom>
          <a:noFill/>
          <a:ln/>
        </p:spPr>
        <p:txBody>
          <a:bodyPr wrap="square" lIns="0" tIns="0" rIns="0" bIns="0" rtlCol="0" anchor="ctr"/>
          <a:lstStyle/>
          <a:p>
            <a:pPr marL="0" indent="0" algn="l">
              <a:buNone/>
            </a:pPr>
            <a:r>
              <a:rPr lang="en-US" sz="4400" b="1" dirty="0">
                <a:solidFill>
                  <a:srgbClr val="3FB950"/>
                </a:solidFill>
                <a:latin typeface="Cambria" pitchFamily="34" charset="0"/>
                <a:ea typeface="Cambria" pitchFamily="34" charset="-122"/>
                <a:cs typeface="Cambria" pitchFamily="34" charset="-120"/>
              </a:rPr>
              <a:t>A</a:t>
            </a:r>
            <a:endParaRPr lang="en-US" sz="4400" dirty="0"/>
          </a:p>
        </p:txBody>
      </p:sp>
      <p:sp>
        <p:nvSpPr>
          <p:cNvPr id="6" name="Text 4"/>
          <p:cNvSpPr/>
          <p:nvPr/>
        </p:nvSpPr>
        <p:spPr>
          <a:xfrm>
            <a:off x="1828800" y="2286000"/>
            <a:ext cx="3840480" cy="640080"/>
          </a:xfrm>
          <a:prstGeom prst="rect">
            <a:avLst/>
          </a:prstGeom>
          <a:noFill/>
          <a:ln/>
        </p:spPr>
        <p:txBody>
          <a:bodyPr wrap="square" lIns="0" tIns="0" rIns="0" bIns="0" rtlCol="0" anchor="ctr"/>
          <a:lstStyle/>
          <a:p>
            <a:pPr marL="0" indent="0" algn="l">
              <a:buNone/>
            </a:pPr>
            <a:r>
              <a:rPr lang="en-US" sz="1900" b="1" dirty="0">
                <a:solidFill>
                  <a:srgbClr val="F0F6FC"/>
                </a:solidFill>
                <a:latin typeface="Cambria" pitchFamily="34" charset="0"/>
                <a:ea typeface="Cambria" pitchFamily="34" charset="-122"/>
                <a:cs typeface="Cambria" pitchFamily="34" charset="-120"/>
              </a:rPr>
              <a:t>Policy Ops Copilot</a:t>
            </a:r>
            <a:endParaRPr lang="en-US" sz="1900" dirty="0"/>
          </a:p>
        </p:txBody>
      </p:sp>
      <p:sp>
        <p:nvSpPr>
          <p:cNvPr id="7" name="Text 5"/>
          <p:cNvSpPr/>
          <p:nvPr/>
        </p:nvSpPr>
        <p:spPr>
          <a:xfrm>
            <a:off x="914400" y="3200400"/>
            <a:ext cx="4663440" cy="1371600"/>
          </a:xfrm>
          <a:prstGeom prst="rect">
            <a:avLst/>
          </a:prstGeom>
          <a:noFill/>
          <a:ln/>
        </p:spPr>
        <p:txBody>
          <a:bodyPr wrap="square" lIns="0" tIns="0" rIns="0" bIns="0" rtlCol="0" anchor="ctr"/>
          <a:lstStyle/>
          <a:p>
            <a:pPr marL="0" indent="0" algn="l">
              <a:lnSpc>
                <a:spcPct val="125000"/>
              </a:lnSpc>
              <a:buNone/>
            </a:pPr>
            <a:r>
              <a:rPr lang="en-US" sz="1350" dirty="0">
                <a:solidFill>
                  <a:srgbClr val="C9D1D9"/>
                </a:solidFill>
                <a:latin typeface="Calibri" pitchFamily="34" charset="0"/>
                <a:ea typeface="Calibri" pitchFamily="34" charset="-122"/>
                <a:cs typeface="Calibri" pitchFamily="34" charset="-120"/>
              </a:rPr>
              <a:t>LLM-assisted rule drafting with a mandatory human review queue, targeting the quarterly NCCI/LCD maintenance cycle.</a:t>
            </a:r>
            <a:endParaRPr lang="en-US" sz="1350" dirty="0"/>
          </a:p>
        </p:txBody>
      </p:sp>
      <p:sp>
        <p:nvSpPr>
          <p:cNvPr id="8" name="Text 6"/>
          <p:cNvSpPr/>
          <p:nvPr/>
        </p:nvSpPr>
        <p:spPr>
          <a:xfrm>
            <a:off x="914400" y="4663440"/>
            <a:ext cx="4663440" cy="365760"/>
          </a:xfrm>
          <a:prstGeom prst="rect">
            <a:avLst/>
          </a:prstGeom>
          <a:noFill/>
          <a:ln/>
        </p:spPr>
        <p:txBody>
          <a:bodyPr wrap="square" lIns="0" tIns="0" rIns="0" bIns="0" rtlCol="0" anchor="ctr"/>
          <a:lstStyle/>
          <a:p>
            <a:pPr marL="0" indent="0" algn="l">
              <a:buNone/>
            </a:pPr>
            <a:r>
              <a:rPr lang="en-US" sz="1200" dirty="0">
                <a:solidFill>
                  <a:srgbClr val="3FB950"/>
                </a:solidFill>
                <a:latin typeface="Consolas" pitchFamily="34" charset="0"/>
                <a:ea typeface="Consolas" pitchFamily="34" charset="-122"/>
                <a:cs typeface="Consolas" pitchFamily="34" charset="-120"/>
              </a:rPr>
              <a:t>Low risk · 0–6 mo</a:t>
            </a:r>
            <a:endParaRPr lang="en-US" sz="1200" dirty="0"/>
          </a:p>
        </p:txBody>
      </p:sp>
      <p:sp>
        <p:nvSpPr>
          <p:cNvPr id="9" name="Shape 7"/>
          <p:cNvSpPr/>
          <p:nvPr/>
        </p:nvSpPr>
        <p:spPr>
          <a:xfrm>
            <a:off x="6309360" y="1920240"/>
            <a:ext cx="5212080" cy="3291840"/>
          </a:xfrm>
          <a:prstGeom prst="roundRect">
            <a:avLst>
              <a:gd name="adj" fmla="val 2222"/>
            </a:avLst>
          </a:prstGeom>
          <a:solidFill>
            <a:srgbClr val="161B22"/>
          </a:solidFill>
          <a:ln w="12700">
            <a:solidFill>
              <a:srgbClr val="21262D"/>
            </a:solidFill>
            <a:prstDash val="solid"/>
          </a:ln>
        </p:spPr>
        <p:txBody>
          <a:bodyPr/>
          <a:lstStyle/>
          <a:p>
            <a:endParaRPr lang="en-US"/>
          </a:p>
        </p:txBody>
      </p:sp>
      <p:sp>
        <p:nvSpPr>
          <p:cNvPr id="10" name="Text 8"/>
          <p:cNvSpPr/>
          <p:nvPr/>
        </p:nvSpPr>
        <p:spPr>
          <a:xfrm>
            <a:off x="6583680" y="2148840"/>
            <a:ext cx="822960" cy="822960"/>
          </a:xfrm>
          <a:prstGeom prst="rect">
            <a:avLst/>
          </a:prstGeom>
          <a:noFill/>
          <a:ln/>
        </p:spPr>
        <p:txBody>
          <a:bodyPr wrap="square" lIns="0" tIns="0" rIns="0" bIns="0" rtlCol="0" anchor="ctr"/>
          <a:lstStyle/>
          <a:p>
            <a:pPr marL="0" indent="0" algn="l">
              <a:buNone/>
            </a:pPr>
            <a:r>
              <a:rPr lang="en-US" sz="4400" b="1" dirty="0">
                <a:solidFill>
                  <a:srgbClr val="E3B341"/>
                </a:solidFill>
                <a:latin typeface="Cambria" pitchFamily="34" charset="0"/>
                <a:ea typeface="Cambria" pitchFamily="34" charset="-122"/>
                <a:cs typeface="Cambria" pitchFamily="34" charset="-120"/>
              </a:rPr>
              <a:t>B</a:t>
            </a:r>
            <a:endParaRPr lang="en-US" sz="4400" dirty="0"/>
          </a:p>
        </p:txBody>
      </p:sp>
      <p:sp>
        <p:nvSpPr>
          <p:cNvPr id="11" name="Text 9"/>
          <p:cNvSpPr/>
          <p:nvPr/>
        </p:nvSpPr>
        <p:spPr>
          <a:xfrm>
            <a:off x="7498080" y="2286000"/>
            <a:ext cx="3840480" cy="640080"/>
          </a:xfrm>
          <a:prstGeom prst="rect">
            <a:avLst/>
          </a:prstGeom>
          <a:noFill/>
          <a:ln/>
        </p:spPr>
        <p:txBody>
          <a:bodyPr wrap="square" lIns="0" tIns="0" rIns="0" bIns="0" rtlCol="0" anchor="ctr"/>
          <a:lstStyle/>
          <a:p>
            <a:pPr marL="0" indent="0" algn="l">
              <a:buNone/>
            </a:pPr>
            <a:r>
              <a:rPr lang="en-US" sz="1900" b="1" dirty="0">
                <a:solidFill>
                  <a:srgbClr val="F0F6FC"/>
                </a:solidFill>
                <a:latin typeface="Cambria" pitchFamily="34" charset="0"/>
                <a:ea typeface="Cambria" pitchFamily="34" charset="-122"/>
                <a:cs typeface="Cambria" pitchFamily="34" charset="-120"/>
              </a:rPr>
              <a:t>Computable Policy Registry</a:t>
            </a:r>
            <a:endParaRPr lang="en-US" sz="1900" dirty="0"/>
          </a:p>
        </p:txBody>
      </p:sp>
      <p:sp>
        <p:nvSpPr>
          <p:cNvPr id="12" name="Text 10"/>
          <p:cNvSpPr/>
          <p:nvPr/>
        </p:nvSpPr>
        <p:spPr>
          <a:xfrm>
            <a:off x="6583680" y="3200400"/>
            <a:ext cx="4663440" cy="1371600"/>
          </a:xfrm>
          <a:prstGeom prst="rect">
            <a:avLst/>
          </a:prstGeom>
          <a:noFill/>
          <a:ln/>
        </p:spPr>
        <p:txBody>
          <a:bodyPr wrap="square" lIns="0" tIns="0" rIns="0" bIns="0" rtlCol="0" anchor="ctr"/>
          <a:lstStyle/>
          <a:p>
            <a:pPr marL="0" indent="0" algn="l">
              <a:lnSpc>
                <a:spcPct val="125000"/>
              </a:lnSpc>
              <a:buNone/>
            </a:pPr>
            <a:r>
              <a:rPr lang="en-US" sz="1350" dirty="0">
                <a:solidFill>
                  <a:srgbClr val="C9D1D9"/>
                </a:solidFill>
                <a:latin typeface="Calibri" pitchFamily="34" charset="0"/>
                <a:ea typeface="Calibri" pitchFamily="34" charset="-122"/>
                <a:cs typeface="Calibri" pitchFamily="34" charset="-120"/>
              </a:rPr>
              <a:t>A versioned, citation-linked rule knowledge base as a platform asset, feeding the Edifecs interoperability layer and CMS-0057-F prior-auth APIs.</a:t>
            </a:r>
            <a:endParaRPr lang="en-US" sz="1350" dirty="0"/>
          </a:p>
        </p:txBody>
      </p:sp>
      <p:sp>
        <p:nvSpPr>
          <p:cNvPr id="13" name="Text 11"/>
          <p:cNvSpPr/>
          <p:nvPr/>
        </p:nvSpPr>
        <p:spPr>
          <a:xfrm>
            <a:off x="6583680" y="4663440"/>
            <a:ext cx="4663440" cy="365760"/>
          </a:xfrm>
          <a:prstGeom prst="rect">
            <a:avLst/>
          </a:prstGeom>
          <a:noFill/>
          <a:ln/>
        </p:spPr>
        <p:txBody>
          <a:bodyPr wrap="square" lIns="0" tIns="0" rIns="0" bIns="0" rtlCol="0" anchor="ctr"/>
          <a:lstStyle/>
          <a:p>
            <a:pPr marL="0" indent="0" algn="l">
              <a:buNone/>
            </a:pPr>
            <a:r>
              <a:rPr lang="en-US" sz="1200" dirty="0">
                <a:solidFill>
                  <a:srgbClr val="E3B341"/>
                </a:solidFill>
                <a:latin typeface="Consolas" pitchFamily="34" charset="0"/>
                <a:ea typeface="Consolas" pitchFamily="34" charset="-122"/>
                <a:cs typeface="Consolas" pitchFamily="34" charset="-120"/>
              </a:rPr>
              <a:t>Moat · 6–18 mo</a:t>
            </a:r>
            <a:endParaRPr lang="en-US" sz="1200" dirty="0"/>
          </a:p>
        </p:txBody>
      </p:sp>
      <p:sp>
        <p:nvSpPr>
          <p:cNvPr id="14" name="Text 12"/>
          <p:cNvSpPr/>
          <p:nvPr/>
        </p:nvSpPr>
        <p:spPr>
          <a:xfrm>
            <a:off x="640080" y="5486400"/>
            <a:ext cx="10881360" cy="640080"/>
          </a:xfrm>
          <a:prstGeom prst="rect">
            <a:avLst/>
          </a:prstGeom>
          <a:noFill/>
          <a:ln/>
        </p:spPr>
        <p:txBody>
          <a:bodyPr wrap="square" rtlCol="0" anchor="ctr"/>
          <a:lstStyle/>
          <a:p>
            <a:pPr marL="0" indent="0" algn="l">
              <a:lnSpc>
                <a:spcPct val="120000"/>
              </a:lnSpc>
              <a:buNone/>
            </a:pPr>
            <a:r>
              <a:rPr lang="en-US" sz="1450" b="1" dirty="0">
                <a:solidFill>
                  <a:srgbClr val="E3B341"/>
                </a:solidFill>
                <a:latin typeface="Calibri" pitchFamily="34" charset="0"/>
                <a:ea typeface="Calibri" pitchFamily="34" charset="-122"/>
                <a:cs typeface="Calibri" pitchFamily="34" charset="-120"/>
              </a:rPr>
              <a:t>Why staged:  </a:t>
            </a:r>
            <a:r>
              <a:rPr lang="en-US" sz="1450" dirty="0">
                <a:solidFill>
                  <a:srgbClr val="C9D1D9"/>
                </a:solidFill>
                <a:latin typeface="Calibri" pitchFamily="34" charset="0"/>
                <a:ea typeface="Calibri" pitchFamily="34" charset="-122"/>
                <a:cs typeface="Calibri" pitchFamily="34" charset="-120"/>
              </a:rPr>
              <a:t>Phase A delivers value with no regulatory exposure, and the rule-lineage data it generates becomes the moat for Phase B.</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640080" y="2103120"/>
            <a:ext cx="10058400" cy="914400"/>
          </a:xfrm>
          <a:prstGeom prst="rect">
            <a:avLst/>
          </a:prstGeom>
          <a:noFill/>
          <a:ln/>
        </p:spPr>
        <p:txBody>
          <a:bodyPr wrap="square" rtlCol="0" anchor="ctr"/>
          <a:lstStyle/>
          <a:p>
            <a:pPr marL="0" indent="0" algn="l">
              <a:buNone/>
            </a:pPr>
            <a:r>
              <a:rPr lang="en-US" sz="4000" b="1" dirty="0">
                <a:solidFill>
                  <a:srgbClr val="F0F6FC"/>
                </a:solidFill>
                <a:latin typeface="Consolas" pitchFamily="34" charset="0"/>
                <a:ea typeface="Consolas" pitchFamily="34" charset="-122"/>
                <a:cs typeface="Consolas" pitchFamily="34" charset="-120"/>
              </a:rPr>
              <a:t>Policy</a:t>
            </a:r>
            <a:r>
              <a:rPr lang="en-US" sz="4000" b="1" dirty="0">
                <a:solidFill>
                  <a:srgbClr val="E3B341"/>
                </a:solidFill>
                <a:latin typeface="Consolas" pitchFamily="34" charset="0"/>
                <a:ea typeface="Consolas" pitchFamily="34" charset="-122"/>
                <a:cs typeface="Consolas" pitchFamily="34" charset="-120"/>
              </a:rPr>
              <a:t>Forge</a:t>
            </a:r>
            <a:endParaRPr lang="en-US" sz="4000" dirty="0"/>
          </a:p>
        </p:txBody>
      </p:sp>
      <p:sp>
        <p:nvSpPr>
          <p:cNvPr id="3" name="Shape 1"/>
          <p:cNvSpPr/>
          <p:nvPr/>
        </p:nvSpPr>
        <p:spPr>
          <a:xfrm>
            <a:off x="640080" y="3291840"/>
            <a:ext cx="2480310" cy="1554480"/>
          </a:xfrm>
          <a:prstGeom prst="roundRect">
            <a:avLst>
              <a:gd name="adj" fmla="val 4706"/>
            </a:avLst>
          </a:prstGeom>
          <a:solidFill>
            <a:srgbClr val="161B22"/>
          </a:solidFill>
          <a:ln w="12700">
            <a:solidFill>
              <a:srgbClr val="21262D"/>
            </a:solidFill>
            <a:prstDash val="solid"/>
          </a:ln>
        </p:spPr>
        <p:txBody>
          <a:bodyPr/>
          <a:lstStyle/>
          <a:p>
            <a:endParaRPr lang="en-US"/>
          </a:p>
        </p:txBody>
      </p:sp>
      <p:sp>
        <p:nvSpPr>
          <p:cNvPr id="4" name="Text 2"/>
          <p:cNvSpPr/>
          <p:nvPr/>
        </p:nvSpPr>
        <p:spPr>
          <a:xfrm>
            <a:off x="777240" y="3474720"/>
            <a:ext cx="2205990" cy="457200"/>
          </a:xfrm>
          <a:prstGeom prst="rect">
            <a:avLst/>
          </a:prstGeom>
          <a:noFill/>
          <a:ln/>
        </p:spPr>
        <p:txBody>
          <a:bodyPr wrap="square" lIns="0" tIns="0" rIns="0" bIns="0" rtlCol="0" anchor="ctr"/>
          <a:lstStyle/>
          <a:p>
            <a:pPr marL="0" indent="0" algn="l">
              <a:buNone/>
            </a:pPr>
            <a:r>
              <a:rPr lang="en-US" sz="1700" b="1" dirty="0">
                <a:solidFill>
                  <a:srgbClr val="E3B341"/>
                </a:solidFill>
                <a:latin typeface="Consolas" pitchFamily="34" charset="0"/>
                <a:ea typeface="Consolas" pitchFamily="34" charset="-122"/>
                <a:cs typeface="Consolas" pitchFamily="34" charset="-120"/>
              </a:rPr>
              <a:t>66.7% → 0%</a:t>
            </a:r>
            <a:endParaRPr lang="en-US" sz="1700" dirty="0"/>
          </a:p>
        </p:txBody>
      </p:sp>
      <p:sp>
        <p:nvSpPr>
          <p:cNvPr id="5" name="Text 3"/>
          <p:cNvSpPr/>
          <p:nvPr/>
        </p:nvSpPr>
        <p:spPr>
          <a:xfrm>
            <a:off x="777240" y="3977640"/>
            <a:ext cx="2205990" cy="320040"/>
          </a:xfrm>
          <a:prstGeom prst="rect">
            <a:avLst/>
          </a:prstGeom>
          <a:noFill/>
          <a:ln/>
        </p:spPr>
        <p:txBody>
          <a:bodyPr wrap="square" lIns="0" tIns="0" rIns="0" bIns="0" rtlCol="0" anchor="ctr"/>
          <a:lstStyle/>
          <a:p>
            <a:pPr marL="0" indent="0" algn="l">
              <a:buNone/>
            </a:pPr>
            <a:r>
              <a:rPr lang="en-US" sz="1200" b="1" dirty="0">
                <a:solidFill>
                  <a:srgbClr val="F0F6FC"/>
                </a:solidFill>
                <a:latin typeface="Calibri" pitchFamily="34" charset="0"/>
                <a:ea typeface="Calibri" pitchFamily="34" charset="-122"/>
                <a:cs typeface="Calibri" pitchFamily="34" charset="-120"/>
              </a:rPr>
              <a:t>Hallucination</a:t>
            </a:r>
            <a:endParaRPr lang="en-US" sz="1200" dirty="0"/>
          </a:p>
        </p:txBody>
      </p:sp>
      <p:sp>
        <p:nvSpPr>
          <p:cNvPr id="6" name="Text 4"/>
          <p:cNvSpPr/>
          <p:nvPr/>
        </p:nvSpPr>
        <p:spPr>
          <a:xfrm>
            <a:off x="777240" y="4297680"/>
            <a:ext cx="2205990" cy="365760"/>
          </a:xfrm>
          <a:prstGeom prst="rect">
            <a:avLst/>
          </a:prstGeom>
          <a:noFill/>
          <a:ln/>
        </p:spPr>
        <p:txBody>
          <a:bodyPr wrap="square" lIns="0" tIns="0" rIns="0" bIns="0" rtlCol="0" anchor="ctr"/>
          <a:lstStyle/>
          <a:p>
            <a:pPr marL="0" indent="0" algn="l">
              <a:buNone/>
            </a:pPr>
            <a:r>
              <a:rPr lang="en-US" sz="1000" dirty="0">
                <a:solidFill>
                  <a:srgbClr val="6E7681"/>
                </a:solidFill>
                <a:latin typeface="Consolas" pitchFamily="34" charset="0"/>
                <a:ea typeface="Consolas" pitchFamily="34" charset="-122"/>
                <a:cs typeface="Consolas" pitchFamily="34" charset="-120"/>
              </a:rPr>
              <a:t>structured output</a:t>
            </a:r>
            <a:endParaRPr lang="en-US" sz="1000" dirty="0"/>
          </a:p>
        </p:txBody>
      </p:sp>
      <p:sp>
        <p:nvSpPr>
          <p:cNvPr id="7" name="Shape 5"/>
          <p:cNvSpPr/>
          <p:nvPr/>
        </p:nvSpPr>
        <p:spPr>
          <a:xfrm>
            <a:off x="3440430" y="3291840"/>
            <a:ext cx="2480310" cy="1554480"/>
          </a:xfrm>
          <a:prstGeom prst="roundRect">
            <a:avLst>
              <a:gd name="adj" fmla="val 4706"/>
            </a:avLst>
          </a:prstGeom>
          <a:solidFill>
            <a:srgbClr val="161B22"/>
          </a:solidFill>
          <a:ln w="12700">
            <a:solidFill>
              <a:srgbClr val="21262D"/>
            </a:solidFill>
            <a:prstDash val="solid"/>
          </a:ln>
        </p:spPr>
        <p:txBody>
          <a:bodyPr/>
          <a:lstStyle/>
          <a:p>
            <a:endParaRPr lang="en-US"/>
          </a:p>
        </p:txBody>
      </p:sp>
      <p:sp>
        <p:nvSpPr>
          <p:cNvPr id="8" name="Text 6"/>
          <p:cNvSpPr/>
          <p:nvPr/>
        </p:nvSpPr>
        <p:spPr>
          <a:xfrm>
            <a:off x="3577590" y="3474720"/>
            <a:ext cx="2205990" cy="457200"/>
          </a:xfrm>
          <a:prstGeom prst="rect">
            <a:avLst/>
          </a:prstGeom>
          <a:noFill/>
          <a:ln/>
        </p:spPr>
        <p:txBody>
          <a:bodyPr wrap="square" lIns="0" tIns="0" rIns="0" bIns="0" rtlCol="0" anchor="ctr"/>
          <a:lstStyle/>
          <a:p>
            <a:pPr marL="0" indent="0" algn="l">
              <a:buNone/>
            </a:pPr>
            <a:r>
              <a:rPr lang="en-US" sz="1700" b="1" dirty="0">
                <a:solidFill>
                  <a:srgbClr val="E3B341"/>
                </a:solidFill>
                <a:latin typeface="Consolas" pitchFamily="34" charset="0"/>
                <a:ea typeface="Consolas" pitchFamily="34" charset="-122"/>
                <a:cs typeface="Consolas" pitchFamily="34" charset="-120"/>
              </a:rPr>
              <a:t>F1 = 0.667</a:t>
            </a:r>
            <a:endParaRPr lang="en-US" sz="1700" dirty="0"/>
          </a:p>
        </p:txBody>
      </p:sp>
      <p:sp>
        <p:nvSpPr>
          <p:cNvPr id="9" name="Text 7"/>
          <p:cNvSpPr/>
          <p:nvPr/>
        </p:nvSpPr>
        <p:spPr>
          <a:xfrm>
            <a:off x="3577590" y="3977640"/>
            <a:ext cx="2205990" cy="320040"/>
          </a:xfrm>
          <a:prstGeom prst="rect">
            <a:avLst/>
          </a:prstGeom>
          <a:noFill/>
          <a:ln/>
        </p:spPr>
        <p:txBody>
          <a:bodyPr wrap="square" lIns="0" tIns="0" rIns="0" bIns="0" rtlCol="0" anchor="ctr"/>
          <a:lstStyle/>
          <a:p>
            <a:pPr marL="0" indent="0" algn="l">
              <a:buNone/>
            </a:pPr>
            <a:r>
              <a:rPr lang="en-US" sz="1200" b="1" dirty="0">
                <a:solidFill>
                  <a:srgbClr val="F0F6FC"/>
                </a:solidFill>
                <a:latin typeface="Calibri" pitchFamily="34" charset="0"/>
                <a:ea typeface="Calibri" pitchFamily="34" charset="-122"/>
                <a:cs typeface="Calibri" pitchFamily="34" charset="-120"/>
              </a:rPr>
              <a:t>Best config</a:t>
            </a:r>
            <a:endParaRPr lang="en-US" sz="1200" dirty="0"/>
          </a:p>
        </p:txBody>
      </p:sp>
      <p:sp>
        <p:nvSpPr>
          <p:cNvPr id="10" name="Text 8"/>
          <p:cNvSpPr/>
          <p:nvPr/>
        </p:nvSpPr>
        <p:spPr>
          <a:xfrm>
            <a:off x="3577590" y="4297680"/>
            <a:ext cx="2205990" cy="365760"/>
          </a:xfrm>
          <a:prstGeom prst="rect">
            <a:avLst/>
          </a:prstGeom>
          <a:noFill/>
          <a:ln/>
        </p:spPr>
        <p:txBody>
          <a:bodyPr wrap="square" lIns="0" tIns="0" rIns="0" bIns="0" rtlCol="0" anchor="ctr"/>
          <a:lstStyle/>
          <a:p>
            <a:pPr marL="0" indent="0" algn="l">
              <a:buNone/>
            </a:pPr>
            <a:r>
              <a:rPr lang="en-US" sz="1000" dirty="0">
                <a:solidFill>
                  <a:srgbClr val="6E7681"/>
                </a:solidFill>
                <a:latin typeface="Consolas" pitchFamily="34" charset="0"/>
                <a:ea typeface="Consolas" pitchFamily="34" charset="-122"/>
                <a:cs typeface="Consolas" pitchFamily="34" charset="-120"/>
              </a:rPr>
              <a:t>L4 few-shot</a:t>
            </a:r>
            <a:endParaRPr lang="en-US" sz="1000" dirty="0"/>
          </a:p>
        </p:txBody>
      </p:sp>
      <p:sp>
        <p:nvSpPr>
          <p:cNvPr id="11" name="Shape 9"/>
          <p:cNvSpPr/>
          <p:nvPr/>
        </p:nvSpPr>
        <p:spPr>
          <a:xfrm>
            <a:off x="6240780" y="3291840"/>
            <a:ext cx="2480310" cy="1554480"/>
          </a:xfrm>
          <a:prstGeom prst="roundRect">
            <a:avLst>
              <a:gd name="adj" fmla="val 4706"/>
            </a:avLst>
          </a:prstGeom>
          <a:solidFill>
            <a:srgbClr val="161B22"/>
          </a:solidFill>
          <a:ln w="12700">
            <a:solidFill>
              <a:srgbClr val="21262D"/>
            </a:solidFill>
            <a:prstDash val="solid"/>
          </a:ln>
        </p:spPr>
        <p:txBody>
          <a:bodyPr/>
          <a:lstStyle/>
          <a:p>
            <a:endParaRPr lang="en-US"/>
          </a:p>
        </p:txBody>
      </p:sp>
      <p:sp>
        <p:nvSpPr>
          <p:cNvPr id="12" name="Text 10"/>
          <p:cNvSpPr/>
          <p:nvPr/>
        </p:nvSpPr>
        <p:spPr>
          <a:xfrm>
            <a:off x="6377940" y="3474720"/>
            <a:ext cx="2205990" cy="457200"/>
          </a:xfrm>
          <a:prstGeom prst="rect">
            <a:avLst/>
          </a:prstGeom>
          <a:noFill/>
          <a:ln/>
        </p:spPr>
        <p:txBody>
          <a:bodyPr wrap="square" lIns="0" tIns="0" rIns="0" bIns="0" rtlCol="0" anchor="ctr"/>
          <a:lstStyle/>
          <a:p>
            <a:pPr marL="0" indent="0" algn="l">
              <a:buNone/>
            </a:pPr>
            <a:r>
              <a:rPr lang="en-US" sz="1700" b="1" dirty="0">
                <a:solidFill>
                  <a:srgbClr val="E3B341"/>
                </a:solidFill>
                <a:latin typeface="Consolas" pitchFamily="34" charset="0"/>
                <a:ea typeface="Consolas" pitchFamily="34" charset="-122"/>
                <a:cs typeface="Consolas" pitchFamily="34" charset="-120"/>
              </a:rPr>
              <a:t>halved</a:t>
            </a:r>
            <a:endParaRPr lang="en-US" sz="1700" dirty="0"/>
          </a:p>
        </p:txBody>
      </p:sp>
      <p:sp>
        <p:nvSpPr>
          <p:cNvPr id="13" name="Text 11"/>
          <p:cNvSpPr/>
          <p:nvPr/>
        </p:nvSpPr>
        <p:spPr>
          <a:xfrm>
            <a:off x="6377940" y="3977640"/>
            <a:ext cx="2205990" cy="320040"/>
          </a:xfrm>
          <a:prstGeom prst="rect">
            <a:avLst/>
          </a:prstGeom>
          <a:noFill/>
          <a:ln/>
        </p:spPr>
        <p:txBody>
          <a:bodyPr wrap="square" lIns="0" tIns="0" rIns="0" bIns="0" rtlCol="0" anchor="ctr"/>
          <a:lstStyle/>
          <a:p>
            <a:pPr marL="0" indent="0" algn="l">
              <a:buNone/>
            </a:pPr>
            <a:r>
              <a:rPr lang="en-US" sz="1200" b="1" dirty="0">
                <a:solidFill>
                  <a:srgbClr val="F0F6FC"/>
                </a:solidFill>
                <a:latin typeface="Calibri" pitchFamily="34" charset="0"/>
                <a:ea typeface="Calibri" pitchFamily="34" charset="-122"/>
                <a:cs typeface="Calibri" pitchFamily="34" charset="-120"/>
              </a:rPr>
              <a:t>Variance</a:t>
            </a:r>
            <a:endParaRPr lang="en-US" sz="1200" dirty="0"/>
          </a:p>
        </p:txBody>
      </p:sp>
      <p:sp>
        <p:nvSpPr>
          <p:cNvPr id="14" name="Text 12"/>
          <p:cNvSpPr/>
          <p:nvPr/>
        </p:nvSpPr>
        <p:spPr>
          <a:xfrm>
            <a:off x="6377940" y="4297680"/>
            <a:ext cx="2205990" cy="365760"/>
          </a:xfrm>
          <a:prstGeom prst="rect">
            <a:avLst/>
          </a:prstGeom>
          <a:noFill/>
          <a:ln/>
        </p:spPr>
        <p:txBody>
          <a:bodyPr wrap="square" lIns="0" tIns="0" rIns="0" bIns="0" rtlCol="0" anchor="ctr"/>
          <a:lstStyle/>
          <a:p>
            <a:pPr marL="0" indent="0" algn="l">
              <a:buNone/>
            </a:pPr>
            <a:r>
              <a:rPr lang="en-US" sz="1000" dirty="0">
                <a:solidFill>
                  <a:srgbClr val="6E7681"/>
                </a:solidFill>
                <a:latin typeface="Consolas" pitchFamily="34" charset="0"/>
                <a:ea typeface="Consolas" pitchFamily="34" charset="-122"/>
                <a:cs typeface="Consolas" pitchFamily="34" charset="-120"/>
              </a:rPr>
              <a:t>0.091 → 0.054</a:t>
            </a:r>
            <a:endParaRPr lang="en-US" sz="1000" dirty="0"/>
          </a:p>
        </p:txBody>
      </p:sp>
      <p:sp>
        <p:nvSpPr>
          <p:cNvPr id="15" name="Shape 13"/>
          <p:cNvSpPr/>
          <p:nvPr/>
        </p:nvSpPr>
        <p:spPr>
          <a:xfrm>
            <a:off x="9041130" y="3291840"/>
            <a:ext cx="2480310" cy="1554480"/>
          </a:xfrm>
          <a:prstGeom prst="roundRect">
            <a:avLst>
              <a:gd name="adj" fmla="val 4706"/>
            </a:avLst>
          </a:prstGeom>
          <a:solidFill>
            <a:srgbClr val="161B22"/>
          </a:solidFill>
          <a:ln w="12700">
            <a:solidFill>
              <a:srgbClr val="21262D"/>
            </a:solidFill>
            <a:prstDash val="solid"/>
          </a:ln>
        </p:spPr>
        <p:txBody>
          <a:bodyPr/>
          <a:lstStyle/>
          <a:p>
            <a:endParaRPr lang="en-US"/>
          </a:p>
        </p:txBody>
      </p:sp>
      <p:sp>
        <p:nvSpPr>
          <p:cNvPr id="16" name="Text 14"/>
          <p:cNvSpPr/>
          <p:nvPr/>
        </p:nvSpPr>
        <p:spPr>
          <a:xfrm>
            <a:off x="9178290" y="3474720"/>
            <a:ext cx="2205990" cy="457200"/>
          </a:xfrm>
          <a:prstGeom prst="rect">
            <a:avLst/>
          </a:prstGeom>
          <a:noFill/>
          <a:ln/>
        </p:spPr>
        <p:txBody>
          <a:bodyPr wrap="square" lIns="0" tIns="0" rIns="0" bIns="0" rtlCol="0" anchor="ctr"/>
          <a:lstStyle/>
          <a:p>
            <a:pPr marL="0" indent="0" algn="l">
              <a:buNone/>
            </a:pPr>
            <a:r>
              <a:rPr lang="en-US" sz="1700" b="1" dirty="0">
                <a:solidFill>
                  <a:srgbClr val="E3B341"/>
                </a:solidFill>
                <a:latin typeface="Consolas" pitchFamily="34" charset="0"/>
                <a:ea typeface="Consolas" pitchFamily="34" charset="-122"/>
                <a:cs typeface="Consolas" pitchFamily="34" charset="-120"/>
              </a:rPr>
              <a:t>PLA: 24% edits</a:t>
            </a:r>
            <a:endParaRPr lang="en-US" sz="1700" dirty="0"/>
          </a:p>
        </p:txBody>
      </p:sp>
      <p:sp>
        <p:nvSpPr>
          <p:cNvPr id="17" name="Text 15"/>
          <p:cNvSpPr/>
          <p:nvPr/>
        </p:nvSpPr>
        <p:spPr>
          <a:xfrm>
            <a:off x="9178290" y="3977640"/>
            <a:ext cx="2205990" cy="320040"/>
          </a:xfrm>
          <a:prstGeom prst="rect">
            <a:avLst/>
          </a:prstGeom>
          <a:noFill/>
          <a:ln/>
        </p:spPr>
        <p:txBody>
          <a:bodyPr wrap="square" lIns="0" tIns="0" rIns="0" bIns="0" rtlCol="0" anchor="ctr"/>
          <a:lstStyle/>
          <a:p>
            <a:pPr marL="0" indent="0" algn="l">
              <a:buNone/>
            </a:pPr>
            <a:r>
              <a:rPr lang="en-US" sz="1200" b="1" dirty="0">
                <a:solidFill>
                  <a:srgbClr val="F0F6FC"/>
                </a:solidFill>
                <a:latin typeface="Calibri" pitchFamily="34" charset="0"/>
                <a:ea typeface="Calibri" pitchFamily="34" charset="-122"/>
                <a:cs typeface="Calibri" pitchFamily="34" charset="-120"/>
              </a:rPr>
              <a:t>Business insight</a:t>
            </a:r>
            <a:endParaRPr lang="en-US" sz="1200" dirty="0"/>
          </a:p>
        </p:txBody>
      </p:sp>
      <p:sp>
        <p:nvSpPr>
          <p:cNvPr id="18" name="Text 16"/>
          <p:cNvSpPr/>
          <p:nvPr/>
        </p:nvSpPr>
        <p:spPr>
          <a:xfrm>
            <a:off x="9178290" y="4297680"/>
            <a:ext cx="2205990" cy="365760"/>
          </a:xfrm>
          <a:prstGeom prst="rect">
            <a:avLst/>
          </a:prstGeom>
          <a:noFill/>
          <a:ln/>
        </p:spPr>
        <p:txBody>
          <a:bodyPr wrap="square" lIns="0" tIns="0" rIns="0" bIns="0" rtlCol="0" anchor="ctr"/>
          <a:lstStyle/>
          <a:p>
            <a:pPr marL="0" indent="0" algn="l">
              <a:buNone/>
            </a:pPr>
            <a:r>
              <a:rPr lang="en-US" sz="1000" dirty="0">
                <a:solidFill>
                  <a:srgbClr val="6E7681"/>
                </a:solidFill>
                <a:latin typeface="Consolas" pitchFamily="34" charset="0"/>
                <a:ea typeface="Consolas" pitchFamily="34" charset="-122"/>
                <a:cs typeface="Consolas" pitchFamily="34" charset="-120"/>
              </a:rPr>
              <a:t>→ 47% impact</a:t>
            </a:r>
            <a:endParaRPr lang="en-US" sz="1000" dirty="0"/>
          </a:p>
        </p:txBody>
      </p:sp>
      <p:sp>
        <p:nvSpPr>
          <p:cNvPr id="19" name="Text 17"/>
          <p:cNvSpPr/>
          <p:nvPr/>
        </p:nvSpPr>
        <p:spPr>
          <a:xfrm>
            <a:off x="640080" y="5212080"/>
            <a:ext cx="5486400" cy="548640"/>
          </a:xfrm>
          <a:prstGeom prst="rect">
            <a:avLst/>
          </a:prstGeom>
          <a:noFill/>
          <a:ln/>
        </p:spPr>
        <p:txBody>
          <a:bodyPr wrap="square" rtlCol="0" anchor="ctr"/>
          <a:lstStyle/>
          <a:p>
            <a:pPr marL="0" indent="0" algn="l">
              <a:buNone/>
            </a:pPr>
            <a:r>
              <a:rPr lang="en-US" sz="2400" b="1" dirty="0">
                <a:solidFill>
                  <a:srgbClr val="F0F6FC"/>
                </a:solidFill>
                <a:latin typeface="Cambria" pitchFamily="34" charset="0"/>
                <a:ea typeface="Cambria" pitchFamily="34" charset="-122"/>
                <a:cs typeface="Cambria" pitchFamily="34" charset="-120"/>
              </a:rPr>
              <a:t>Thank you.</a:t>
            </a:r>
            <a:endParaRPr lang="en-US" sz="2400" dirty="0"/>
          </a:p>
        </p:txBody>
      </p:sp>
      <p:sp>
        <p:nvSpPr>
          <p:cNvPr id="20" name="Text 18"/>
          <p:cNvSpPr/>
          <p:nvPr/>
        </p:nvSpPr>
        <p:spPr>
          <a:xfrm>
            <a:off x="640080" y="5852160"/>
            <a:ext cx="7315200" cy="365760"/>
          </a:xfrm>
          <a:prstGeom prst="rect">
            <a:avLst/>
          </a:prstGeom>
          <a:noFill/>
          <a:ln/>
        </p:spPr>
        <p:txBody>
          <a:bodyPr wrap="square" rtlCol="0" anchor="ctr"/>
          <a:lstStyle/>
          <a:p>
            <a:pPr marL="0" indent="0" algn="l">
              <a:buNone/>
            </a:pPr>
            <a:r>
              <a:rPr lang="en-US" sz="1400" dirty="0">
                <a:solidFill>
                  <a:srgbClr val="E3B341"/>
                </a:solidFill>
                <a:latin typeface="Consolas" pitchFamily="34" charset="0"/>
                <a:ea typeface="Consolas" pitchFamily="34" charset="-122"/>
                <a:cs typeface="Consolas" pitchFamily="34" charset="-120"/>
              </a:rPr>
              <a:t>github.com/ZhengLiu112/policyforge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579</TotalTime>
  <Words>1212</Words>
  <Application>Microsoft Macintosh PowerPoint</Application>
  <PresentationFormat>Widescreen</PresentationFormat>
  <Paragraphs>209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Zheng Liu</cp:lastModifiedBy>
  <cp:revision>5</cp:revision>
  <dcterms:created xsi:type="dcterms:W3CDTF">2026-08-15T17:44:45Z</dcterms:created>
  <dcterms:modified xsi:type="dcterms:W3CDTF">2026-08-16T04:27:32Z</dcterms:modified>
</cp:coreProperties>
</file>